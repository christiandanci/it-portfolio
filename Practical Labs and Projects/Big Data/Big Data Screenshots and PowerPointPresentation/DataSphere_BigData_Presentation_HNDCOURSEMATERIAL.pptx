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0" r:id="rId4"/>
  </p:sldMasterIdLst>
  <p:notesMasterIdLst>
    <p:notesMasterId r:id="rId23"/>
  </p:notesMasterIdLst>
  <p:handoutMasterIdLst>
    <p:handoutMasterId r:id="rId24"/>
  </p:handoutMasterIdLst>
  <p:sldIdLst>
    <p:sldId id="256" r:id="rId5"/>
    <p:sldId id="351" r:id="rId6"/>
    <p:sldId id="257" r:id="rId7"/>
    <p:sldId id="286" r:id="rId8"/>
    <p:sldId id="348" r:id="rId9"/>
    <p:sldId id="349" r:id="rId10"/>
    <p:sldId id="336" r:id="rId11"/>
    <p:sldId id="334" r:id="rId12"/>
    <p:sldId id="342" r:id="rId13"/>
    <p:sldId id="347" r:id="rId14"/>
    <p:sldId id="346" r:id="rId15"/>
    <p:sldId id="352" r:id="rId16"/>
    <p:sldId id="355" r:id="rId17"/>
    <p:sldId id="353" r:id="rId18"/>
    <p:sldId id="354" r:id="rId19"/>
    <p:sldId id="292" r:id="rId20"/>
    <p:sldId id="296" r:id="rId21"/>
    <p:sldId id="35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18EDFB-F789-430F-9C5A-ED83B83DF52C}" v="11" dt="2025-05-20T10:43:14.410"/>
    <p1510:client id="{D4A972F2-4392-795F-2205-FD4A8BCE726A}" v="15" dt="2025-05-20T10:00:21.549"/>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1235" autoAdjust="0"/>
  </p:normalViewPr>
  <p:slideViewPr>
    <p:cSldViewPr snapToGrid="0">
      <p:cViewPr varScale="1">
        <p:scale>
          <a:sx n="90" d="100"/>
          <a:sy n="90" d="100"/>
        </p:scale>
        <p:origin x="1584" y="90"/>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5/21/2025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5/21/2025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 everyone, my name’s Cristian Danci, and I work as a Junior Data Analyst at </a:t>
            </a:r>
            <a:r>
              <a:rPr lang="en-GB" dirty="0" err="1"/>
              <a:t>DataSphere</a:t>
            </a:r>
            <a:r>
              <a:rPr lang="en-GB" dirty="0"/>
              <a:t> Analytics. Today I’ll be talking to you about how Big Data supports decision-making in modern organisations, what it means for end users, and the challenges data specialists face—especially when it comes to ethics and compliance.</a:t>
            </a:r>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my role at </a:t>
            </a:r>
            <a:r>
              <a:rPr lang="en-GB" dirty="0" err="1"/>
              <a:t>DataSphere</a:t>
            </a:r>
            <a:r>
              <a:rPr lang="en-GB" dirty="0"/>
              <a:t>, I help support clients by working on projects involving big data analysis, visualisation, and predictive modelling. We’ve been invited to the Data Innovation Summit 2025 to share our insights into how big data is shaping the future of business intelligence, and this presentation reflects our contribution to that summit.</a:t>
            </a:r>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1487261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Big Data refers to huge amounts of information that come in quickly and in different forms—far beyond what traditional tools can handle. At </a:t>
            </a:r>
            <a:r>
              <a:rPr lang="en-GB" dirty="0" err="1"/>
              <a:t>DataSphere</a:t>
            </a:r>
            <a:r>
              <a:rPr lang="en-GB" dirty="0"/>
              <a:t>, we use it to spot trends, make decisions, and help our clients gain competitive advantages. To understand Big Data better, it’s useful to look at the 6 Vs, which break down its main features and challenges.</a:t>
            </a:r>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Let’s break down the 6 Vs:   - Volume is the massive amount of data generated daily.   - Velocity is how fast it arrives—often in real time.   - Variety refers to the many formats, like video, text, or spreadsheets.   - Veracity is about data accuracy and trustworthiness.   - Value is the insight we get from it.   - And Variability covers inconsistencies in data flow.   These six together help us understand both the potential and the complexity of Big Data.</a:t>
            </a:r>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The Big Data lifecycle explains how data flows from creation to action. It includes eight key stages:  </a:t>
            </a:r>
          </a:p>
          <a:p>
            <a:pPr marL="228600" indent="-228600">
              <a:buAutoNum type="arabicPeriod"/>
            </a:pPr>
            <a:r>
              <a:rPr lang="en-GB" dirty="0"/>
              <a:t>Generation – Data is created by users, devices, or systems like sensors and applications.   </a:t>
            </a:r>
          </a:p>
          <a:p>
            <a:pPr marL="0" indent="0">
              <a:buNone/>
            </a:pPr>
            <a:r>
              <a:rPr lang="en-GB" dirty="0"/>
              <a:t>2. Collection – That data is then captured through platforms, apps, or software tools.   </a:t>
            </a:r>
          </a:p>
          <a:p>
            <a:pPr marL="0" indent="0">
              <a:buNone/>
            </a:pPr>
            <a:r>
              <a:rPr lang="en-GB" dirty="0"/>
              <a:t>3. Storage – It’s securely stored in databases or cloud environments, ready for use.   </a:t>
            </a:r>
          </a:p>
          <a:p>
            <a:pPr marL="0" indent="0">
              <a:buNone/>
            </a:pPr>
            <a:r>
              <a:rPr lang="en-GB" dirty="0"/>
              <a:t>4.Processing – We clean, organize, and structure the data to prepare it for analysis.   </a:t>
            </a:r>
          </a:p>
          <a:p>
            <a:pPr marL="0" indent="0">
              <a:buNone/>
            </a:pPr>
            <a:r>
              <a:rPr lang="en-GB" dirty="0"/>
              <a:t>5. Analysis –Tools like AI and statistical methods are applied to extract insights.   </a:t>
            </a:r>
          </a:p>
          <a:p>
            <a:pPr marL="0" indent="0">
              <a:buNone/>
            </a:pPr>
            <a:r>
              <a:rPr lang="en-GB" dirty="0"/>
              <a:t>6. Visualization – Theseinsights are presented using dashboards, graphs, or charts.   </a:t>
            </a:r>
          </a:p>
          <a:p>
            <a:pPr marL="0" indent="0">
              <a:buNone/>
            </a:pPr>
            <a:r>
              <a:rPr lang="en-GB" dirty="0"/>
              <a:t>7. Utilization – The data is used to guide decisions, improve services, or drive innovation.   </a:t>
            </a:r>
          </a:p>
          <a:p>
            <a:pPr marL="0" indent="0">
              <a:buNone/>
            </a:pPr>
            <a:r>
              <a:rPr lang="en-GB" dirty="0"/>
              <a:t>8. Feedback – Outcomes from decisions generate new data, feeding the cycle again.  Each stage must be handled responsibly to ensure compliance, accuracy, and value. </a:t>
            </a:r>
          </a:p>
          <a:p>
            <a:pPr marL="0" indent="0">
              <a:buNone/>
            </a:pPr>
            <a:r>
              <a:rPr lang="en-GB" dirty="0"/>
              <a:t>Understanding this lifecycle helps us unlock the full power of </a:t>
            </a:r>
            <a:r>
              <a:rPr lang="en-GB" dirty="0" err="1"/>
              <a:t>BigData</a:t>
            </a:r>
            <a:r>
              <a:rPr lang="en-GB" dirty="0"/>
              <a:t>.</a:t>
            </a:r>
            <a:r>
              <a:rPr lang="en-US" dirty="0"/>
              <a:t>This is the </a:t>
            </a:r>
            <a:r>
              <a:rPr lang="en-US" b="1" dirty="0"/>
              <a:t>Cycle of Big Data</a:t>
            </a:r>
            <a:r>
              <a:rPr lang="en-US" dirty="0"/>
              <a:t>, the process data goes through from creation to action:</a:t>
            </a:r>
          </a:p>
          <a:p>
            <a:endParaRPr lang="en-GB"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1207144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Organizations don’t want to guess—they want evidence. Data helps leaders make informed choices, track performance, and see patterns in customer behaviour. It also opens the door for innovation, because real feedback lets companies improve continuously. But at the same time, this means we must also be responsible with how we use people’s data.</a:t>
            </a:r>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397992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For users, data-driven decision-making shows up in lots of ways—like Netflix recommending shows or online stores personalising what we see. But there are downsides too, especially around privacy. As analysts, it’s our job to think not just about performance, but about fairness and transparency for users.</a:t>
            </a:r>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1531547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DDDM helps companies plan better, reduce risks, and stay competitive. But it’s not perfect—data overload, privacy laws like GDPR, and the cost of implementation all create challenges. The key is to find a balance between innovation and user protection. That’s something we focus on heavily at </a:t>
            </a:r>
            <a:r>
              <a:rPr lang="en-GB" dirty="0" err="1"/>
              <a:t>DataSphere</a:t>
            </a:r>
            <a:r>
              <a:rPr lang="en-GB" dirty="0"/>
              <a:t>. </a:t>
            </a:r>
            <a:r>
              <a:rPr lang="en-US" sz="1200" b="0" dirty="0">
                <a:latin typeface="Times New Roman"/>
                <a:cs typeface="Times New Roman"/>
              </a:rPr>
              <a:t>A research I used for DDDM </a:t>
            </a:r>
            <a:r>
              <a:rPr lang="en-GB" sz="1200" b="0" dirty="0">
                <a:latin typeface="Times New Roman"/>
                <a:cs typeface="Times New Roman"/>
              </a:rPr>
              <a:t>(Dana </a:t>
            </a:r>
            <a:r>
              <a:rPr lang="en-GB" sz="1200" b="0" dirty="0" err="1">
                <a:latin typeface="Times New Roman"/>
                <a:cs typeface="Times New Roman"/>
              </a:rPr>
              <a:t>Lagzi</a:t>
            </a:r>
            <a:r>
              <a:rPr lang="en-GB" sz="1200" b="0" dirty="0">
                <a:latin typeface="Times New Roman"/>
                <a:cs typeface="Times New Roman"/>
              </a:rPr>
              <a:t>,, et al., 2025)</a:t>
            </a:r>
          </a:p>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Google and Walmart are great examples. Google uses data to improve search results, personalise YouTube, and help businesses advertise smarter. Walmart uses it for inventory, pricing, and logistics. They show that when used well, data really does power better decisions.</a:t>
            </a:r>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This isn’t just about tech companies. Big data is transforming every industry—like Amazon in retail, AI diagnostics in healthcare, fraud detection in banking, and real-time tracking in logistics. It’s everywhere, and it’s changing how decisions get made from the ground up.</a:t>
            </a:r>
          </a:p>
          <a:p>
            <a:pPr>
              <a:buNone/>
            </a:pPr>
            <a:r>
              <a:rPr lang="en-US" dirty="0"/>
              <a:t>“Two companies that use DDDM effectively are:</a:t>
            </a:r>
          </a:p>
          <a:p>
            <a:pPr>
              <a:buNone/>
            </a:pPr>
            <a:r>
              <a:rPr lang="en-US" b="1" dirty="0"/>
              <a:t>Google</a:t>
            </a:r>
            <a:r>
              <a:rPr lang="en-US" dirty="0"/>
              <a:t>:</a:t>
            </a:r>
          </a:p>
          <a:p>
            <a:pPr>
              <a:buFont typeface="Arial" panose="020B0604020202020204" pitchFamily="34" charset="0"/>
              <a:buChar char="•"/>
            </a:pPr>
            <a:r>
              <a:rPr lang="en-US" dirty="0"/>
              <a:t>Uses data to refine search and personalize ads.</a:t>
            </a:r>
          </a:p>
          <a:p>
            <a:pPr>
              <a:buFont typeface="Arial" panose="020B0604020202020204" pitchFamily="34" charset="0"/>
              <a:buChar char="•"/>
            </a:pPr>
            <a:r>
              <a:rPr lang="en-US" dirty="0"/>
              <a:t>Recommends YouTube content using user behavior.</a:t>
            </a:r>
          </a:p>
          <a:p>
            <a:pPr>
              <a:buNone/>
            </a:pPr>
            <a:r>
              <a:rPr lang="en-US" b="1" dirty="0"/>
              <a:t>Walmart</a:t>
            </a:r>
            <a:r>
              <a:rPr lang="en-US" dirty="0"/>
              <a:t>:</a:t>
            </a:r>
          </a:p>
          <a:p>
            <a:pPr>
              <a:buFont typeface="Arial" panose="020B0604020202020204" pitchFamily="34" charset="0"/>
              <a:buChar char="•"/>
            </a:pPr>
            <a:r>
              <a:rPr lang="en-US" dirty="0"/>
              <a:t>Tracks real-time sales for inventory control.</a:t>
            </a:r>
          </a:p>
          <a:p>
            <a:pPr>
              <a:buFont typeface="Arial" panose="020B0604020202020204" pitchFamily="34" charset="0"/>
              <a:buChar char="•"/>
            </a:pPr>
            <a:r>
              <a:rPr lang="en-US" dirty="0"/>
              <a:t>Analyzes shopping patterns to improve layout and product placement.</a:t>
            </a:r>
          </a:p>
          <a:p>
            <a:pPr>
              <a:buFont typeface="Arial" panose="020B0604020202020204" pitchFamily="34" charset="0"/>
              <a:buChar char="•"/>
            </a:pPr>
            <a:r>
              <a:rPr lang="en-US" dirty="0"/>
              <a:t>Uses AI for faster checkouts and fraud detection.</a:t>
            </a:r>
          </a:p>
          <a:p>
            <a:r>
              <a:rPr lang="en-US" dirty="0"/>
              <a:t>These companies show how DDDM drives efficiency and user satisfaction.</a:t>
            </a:r>
          </a:p>
          <a:p>
            <a:pPr>
              <a:buNone/>
            </a:pPr>
            <a:endParaRPr lang="en-US" dirty="0"/>
          </a:p>
          <a:p>
            <a:pPr>
              <a:buNone/>
            </a:pPr>
            <a:endParaRPr lang="en-US" dirty="0"/>
          </a:p>
          <a:p>
            <a:pPr>
              <a:buNone/>
            </a:pPr>
            <a:r>
              <a:rPr lang="en-US" dirty="0"/>
              <a:t>To compare with other leaders:</a:t>
            </a:r>
          </a:p>
          <a:p>
            <a:pPr>
              <a:buFont typeface="Arial" panose="020B0604020202020204" pitchFamily="34" charset="0"/>
              <a:buChar char="•"/>
            </a:pPr>
            <a:r>
              <a:rPr lang="en-US" b="1" dirty="0"/>
              <a:t>Google</a:t>
            </a:r>
            <a:r>
              <a:rPr lang="en-US" dirty="0"/>
              <a:t> uses analytics to improve search, ads, and video recommendations.</a:t>
            </a:r>
          </a:p>
          <a:p>
            <a:pPr>
              <a:buFont typeface="Arial" panose="020B0604020202020204" pitchFamily="34" charset="0"/>
              <a:buChar char="•"/>
            </a:pPr>
            <a:r>
              <a:rPr lang="en-US" b="1" dirty="0"/>
              <a:t>Walmart</a:t>
            </a:r>
            <a:r>
              <a:rPr lang="en-US" dirty="0"/>
              <a:t> uses real-time data to manage inventory and logistics.</a:t>
            </a:r>
            <a:br>
              <a:rPr lang="en-US" dirty="0"/>
            </a:br>
            <a:r>
              <a:rPr lang="en-US" dirty="0"/>
              <a:t>At </a:t>
            </a:r>
            <a:r>
              <a:rPr lang="en-US" dirty="0" err="1"/>
              <a:t>DataSphere</a:t>
            </a:r>
            <a:r>
              <a:rPr lang="en-US" dirty="0"/>
              <a:t>, we follow similar principles — using data to optimize decision making across departments.</a:t>
            </a:r>
          </a:p>
          <a:p>
            <a:endParaRPr lang="en-GB"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2004728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0" dirty="0">
                <a:solidFill>
                  <a:srgbClr val="FF0000"/>
                </a:solidFill>
              </a:rPr>
              <a:t>Management uses data to monitor progress through KPIs, forecast trends with predictive analytics, and even get recommendations for what to do next using prescriptive models. It also helps with risk management—spotting issues early. This kind of insight makes a huge difference at strategic levels.</a:t>
            </a:r>
            <a:endParaRPr lang="en-US" b="0"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28369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key roles I’ll mention here:   - Data Engineers build the data infrastructure.   -Data Scientists analyse the data and build models.   - And Data Governance Officers make sure we follow ethical and legal standards.   They all work together to keep data powerful but responsible.</a:t>
            </a:r>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2441587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Next we will examine the main obstacles encountered by various data specialist roles in the industry.</a:t>
            </a: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r>
              <a:rPr lang="en-GB" sz="1800" kern="100" dirty="0">
                <a:effectLst/>
                <a:latin typeface="Aptos" panose="020B0004020202020204" pitchFamily="34" charset="0"/>
                <a:ea typeface="Aptos" panose="020B0004020202020204" pitchFamily="34" charset="0"/>
                <a:cs typeface="Times New Roman" panose="02020603050405020304" pitchFamily="18" charset="0"/>
              </a:rPr>
              <a:t>1. Starting with the Data Engineer:</a:t>
            </a: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r>
              <a:rPr lang="en-GB" sz="1800" kern="100" dirty="0">
                <a:effectLst/>
                <a:latin typeface="Aptos" panose="020B0004020202020204" pitchFamily="34" charset="0"/>
                <a:ea typeface="Aptos" panose="020B0004020202020204" pitchFamily="34" charset="0"/>
                <a:cs typeface="Times New Roman" panose="02020603050405020304" pitchFamily="18" charset="0"/>
              </a:rPr>
              <a:t>These professionals build and maintain infrastructure for data systems. Data Engineers face major difficulties handling massive amounts of quick data movement which could easily overwhelm pipelines without proper scaling.</a:t>
            </a: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r>
              <a:rPr lang="en-GB" sz="1800" kern="100" dirty="0">
                <a:effectLst/>
                <a:latin typeface="Aptos" panose="020B0004020202020204" pitchFamily="34" charset="0"/>
                <a:ea typeface="Aptos" panose="020B0004020202020204" pitchFamily="34" charset="0"/>
                <a:cs typeface="Times New Roman" panose="02020603050405020304" pitchFamily="18" charset="0"/>
              </a:rPr>
              <a:t>Data sets must be obtained through legal and fair processes to meet ethical sourcing standards.</a:t>
            </a: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r>
              <a:rPr lang="en-GB" sz="1800" kern="100" dirty="0">
                <a:effectLst/>
                <a:latin typeface="Aptos" panose="020B0004020202020204" pitchFamily="34" charset="0"/>
                <a:ea typeface="Aptos" panose="020B0004020202020204" pitchFamily="34" charset="0"/>
                <a:cs typeface="Times New Roman" panose="02020603050405020304" pitchFamily="18" charset="0"/>
              </a:rPr>
              <a:t>Cost is another pressure point. Building scalable systems requires skill but creating them within budget constraints presents an entirely different challenge. The integration of an expanding suite of data tools and platforms creates significant technical difficulties.</a:t>
            </a: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br>
              <a:rPr lang="en-GB" sz="1800" kern="100" dirty="0">
                <a:effectLst/>
                <a:latin typeface="Aptos" panose="020B0004020202020204" pitchFamily="34" charset="0"/>
                <a:ea typeface="Aptos" panose="020B0004020202020204" pitchFamily="34" charset="0"/>
                <a:cs typeface="Times New Roman" panose="02020603050405020304" pitchFamily="18" charset="0"/>
              </a:rPr>
            </a:br>
            <a:r>
              <a:rPr lang="en-GB" sz="1800" kern="100" dirty="0">
                <a:effectLst/>
                <a:latin typeface="Aptos" panose="020B0004020202020204" pitchFamily="34" charset="0"/>
                <a:ea typeface="Aptos" panose="020B0004020202020204" pitchFamily="34" charset="0"/>
                <a:cs typeface="Times New Roman" panose="02020603050405020304" pitchFamily="18" charset="0"/>
              </a:rPr>
              <a:t>2. Next, the Data Scientist: </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Data Scientists dedicate their efforts to constructing models that harness valuable insights from data sets.</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A crucial task for Data Scientists is to ensure their models remain unbiased and do not perpetuate unfair trends.</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use of complex models to improve accuracy presents a dilemma for data scientists because these same models become difficult for stakeholders to understand.</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effectiveness of data science models depends directly on the quality of data they process which tends to be disorderly and incomplete.</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rapid evolution of machine learning makes it difficult to maintain current knowledge about available tools.</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3. Finally, the Data Governance Officer: </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Data Governance Officer role </a:t>
            </a:r>
            <a:r>
              <a:rPr lang="en-GB" sz="1800" kern="100" dirty="0" err="1">
                <a:effectLst/>
                <a:latin typeface="Aptos" panose="020B0004020202020204" pitchFamily="34" charset="0"/>
                <a:ea typeface="Aptos" panose="020B0004020202020204" pitchFamily="34" charset="0"/>
                <a:cs typeface="Times New Roman" panose="02020603050405020304" pitchFamily="18" charset="0"/>
              </a:rPr>
              <a:t>centers</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around maintaining data policy enforcement and adherence to legal and regulatory requirements.</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Different teams and departments present obstacles to maintaining uniform standards across the organization.</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Keeping up with the ever-changing legal requirements including GDPR and various privacy regulations remains essential for them.</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identification of data ownership and management responsibilities remains ambiguous within corporate structures.</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And perhaps the biggest challenge is balancing two opposing needs: Organizations must enable teams to access essential data without risking its misuse through appropriate safeguards.</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[Pause briefly] </a:t>
            </a: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interconnected nature and complexity of big data demonstrate why collaboration between different roles within an organization remains crucial.</a:t>
            </a:r>
          </a:p>
          <a:p>
            <a:endParaRPr lang="en-GB"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1577069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of the biggest challenges are bias in algorithms, keeping up with changing regulations</a:t>
            </a:r>
            <a:r>
              <a:rPr lang="en-GB"/>
              <a:t>, and handling </a:t>
            </a:r>
            <a:r>
              <a:rPr lang="en-GB" dirty="0"/>
              <a:t>data across countries. To deal with these, we use strategies like ethical audits, explainable AI, and regular stakeholder reviews. Laws like GDPR help keep us accountable too.</a:t>
            </a:r>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3489214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Ethics is a big topic in big data. We need to make sure that systems are fair, that users know how their data’s used, and that decisions aren’t discriminatory. That means training teams, building transparency into our tools, and constantly reviewing how data is handled. It’s not easy, but </a:t>
            </a:r>
            <a:r>
              <a:rPr lang="en-GB" dirty="0" err="1"/>
              <a:t>it’svital</a:t>
            </a:r>
            <a:r>
              <a:rPr lang="en-GB" dirty="0"/>
              <a:t>.</a:t>
            </a:r>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757040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sum up: Big Data is an incredible tool—but only if we use it wisely. When we match innovation with accountability and ethics, we create decisions that benefit everyone—from users to organisations. That’s what we aim for at </a:t>
            </a:r>
            <a:r>
              <a:rPr lang="en-GB" dirty="0" err="1"/>
              <a:t>DataSphere</a:t>
            </a:r>
            <a:r>
              <a:rPr lang="en-GB" dirty="0"/>
              <a:t>.</a:t>
            </a:r>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Thanks for listening! I’d be happy to take any questions and hear your thoughts on how we can use data even more responsibly and effectively. </a:t>
            </a:r>
            <a:r>
              <a:rPr lang="en-US" dirty="0"/>
              <a:t>Thank you for your time. I hope this has given you a clear view of how Big Data and Data-Driven Decision Making work in practice.</a:t>
            </a:r>
            <a:br>
              <a:rPr lang="en-US" dirty="0"/>
            </a:br>
            <a:r>
              <a:rPr lang="en-US" dirty="0"/>
              <a:t>I’m happy to answer any questions.</a:t>
            </a:r>
          </a:p>
        </p:txBody>
      </p:sp>
      <p:sp>
        <p:nvSpPr>
          <p:cNvPr id="4" name="Slide Number Placeholder 3"/>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399008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support the information in this presentation for Datasphere — covering Big Data theory, analytics practice, real-world case studies, and the ethical and legal side of data use.</a:t>
            </a:r>
          </a:p>
          <a:p>
            <a:endParaRPr lang="en-US" dirty="0"/>
          </a:p>
          <a:p>
            <a:r>
              <a:rPr lang="en-US" dirty="0"/>
              <a:t>These are the references that shaped our thinking at </a:t>
            </a:r>
            <a:r>
              <a:rPr lang="en-US" dirty="0" err="1"/>
              <a:t>DataSphere</a:t>
            </a:r>
            <a:r>
              <a:rPr lang="en-US" dirty="0"/>
              <a:t>, covering the theory and real-world applications of big data and decision making.</a:t>
            </a:r>
          </a:p>
          <a:p>
            <a:endParaRPr lang="en-US" dirty="0"/>
          </a:p>
          <a:p>
            <a:endParaRPr lang="en-US" dirty="0"/>
          </a:p>
          <a:p>
            <a:r>
              <a:rPr lang="en-US" dirty="0"/>
              <a:t>Continue LO1 part in guidelines then add LO4 to slides also in text citations to each slide. Fix Layout for Slides </a:t>
            </a:r>
            <a:r>
              <a:rPr lang="en-US"/>
              <a:t>so readers can see.</a:t>
            </a:r>
            <a:endParaRPr lang="en-GB" dirty="0"/>
          </a:p>
        </p:txBody>
      </p:sp>
      <p:sp>
        <p:nvSpPr>
          <p:cNvPr id="4" name="Slide Number Placeholder 3"/>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557852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5/21/2025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915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5/21/2025</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459899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5/21/2025</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864218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5/21/2025</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408617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5/21/2025</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439434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5/21/2025</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414133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5/21/2025</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95380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5/21/2025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72795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5/21/2025</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1043605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5/21/2025</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8461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5/21/2025</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199163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710516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66346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57203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3047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286844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5/21/2025</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dirty="0"/>
          </a:p>
        </p:txBody>
      </p:sp>
    </p:spTree>
    <p:extLst>
      <p:ext uri="{BB962C8B-B14F-4D97-AF65-F5344CB8AC3E}">
        <p14:creationId xmlns:p14="http://schemas.microsoft.com/office/powerpoint/2010/main" val="207071133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233377" y="986540"/>
            <a:ext cx="5892526" cy="1500194"/>
          </a:xfrm>
        </p:spPr>
        <p:txBody>
          <a:bodyPr/>
          <a:lstStyle/>
          <a:p>
            <a:r>
              <a:rPr lang="en-US" dirty="0">
                <a:ea typeface="+mj-lt"/>
                <a:cs typeface="+mj-lt"/>
              </a:rPr>
              <a:t>Big Data</a:t>
            </a:r>
            <a:r>
              <a:rPr lang="en-US" b="0" dirty="0">
                <a:ea typeface="+mj-lt"/>
                <a:cs typeface="+mj-lt"/>
              </a:rPr>
              <a:t> and Decision Making</a:t>
            </a:r>
            <a:endParaRPr lang="en-US" dirty="0"/>
          </a:p>
        </p:txBody>
      </p:sp>
      <p:sp>
        <p:nvSpPr>
          <p:cNvPr id="3" name="TextBox 2">
            <a:extLst>
              <a:ext uri="{FF2B5EF4-FFF2-40B4-BE49-F238E27FC236}">
                <a16:creationId xmlns:a16="http://schemas.microsoft.com/office/drawing/2014/main" id="{B2414E92-1B04-2C4B-28FB-A673124DEEA1}"/>
              </a:ext>
            </a:extLst>
          </p:cNvPr>
          <p:cNvSpPr txBox="1"/>
          <p:nvPr/>
        </p:nvSpPr>
        <p:spPr>
          <a:xfrm>
            <a:off x="1233377" y="2721935"/>
            <a:ext cx="7228261" cy="1077218"/>
          </a:xfrm>
          <a:prstGeom prst="rect">
            <a:avLst/>
          </a:prstGeom>
          <a:noFill/>
        </p:spPr>
        <p:txBody>
          <a:bodyPr wrap="none" rtlCol="0">
            <a:spAutoFit/>
          </a:bodyPr>
          <a:lstStyle/>
          <a:p>
            <a:r>
              <a:rPr lang="en-US" sz="3200" b="1" dirty="0" err="1">
                <a:latin typeface="Times New Roman" panose="02020603050405020304" pitchFamily="18" charset="0"/>
                <a:cs typeface="Times New Roman" panose="02020603050405020304" pitchFamily="18" charset="0"/>
              </a:rPr>
              <a:t>DataSphere</a:t>
            </a:r>
            <a:r>
              <a:rPr lang="en-US" sz="3200" b="1" dirty="0">
                <a:latin typeface="Times New Roman" panose="02020603050405020304" pitchFamily="18" charset="0"/>
                <a:cs typeface="Times New Roman" panose="02020603050405020304" pitchFamily="18" charset="0"/>
              </a:rPr>
              <a:t> Analytics Presentation</a:t>
            </a:r>
          </a:p>
          <a:p>
            <a:r>
              <a:rPr lang="en-US" sz="3200" b="1" dirty="0">
                <a:latin typeface="Times New Roman" panose="02020603050405020304" pitchFamily="18" charset="0"/>
                <a:cs typeface="Times New Roman" panose="02020603050405020304" pitchFamily="18" charset="0"/>
              </a:rPr>
              <a:t>By: Cristian Danci Junior Data Analyst </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My Role at DataSphere Analytics</a:t>
            </a:r>
          </a:p>
        </p:txBody>
      </p:sp>
      <p:sp>
        <p:nvSpPr>
          <p:cNvPr id="3" name="Content Placeholder 2"/>
          <p:cNvSpPr>
            <a:spLocks noGrp="1"/>
          </p:cNvSpPr>
          <p:nvPr>
            <p:ph idx="1"/>
          </p:nvPr>
        </p:nvSpPr>
        <p:spPr/>
        <p:txBody>
          <a:bodyPr>
            <a:normAutofit fontScale="92500" lnSpcReduction="10000"/>
          </a:bodyPr>
          <a:lstStyle/>
          <a:p>
            <a:r>
              <a:t>Presenter Role: Junior Data Analyst at DataSphere Analytics</a:t>
            </a:r>
          </a:p>
          <a:p>
            <a:r>
              <a:t>DataSphere Analytics specialises in data solutions including:</a:t>
            </a:r>
          </a:p>
          <a:p>
            <a:r>
              <a:t>- Big Data Analytics</a:t>
            </a:r>
          </a:p>
          <a:p>
            <a:r>
              <a:t>- Predictive Modelling</a:t>
            </a:r>
          </a:p>
          <a:p>
            <a:r>
              <a:t>- Data Visualisation</a:t>
            </a:r>
          </a:p>
          <a:p>
            <a:r>
              <a:t>We're presenting at the Data Innovation Summit 2025,</a:t>
            </a:r>
          </a:p>
          <a:p>
            <a:r>
              <a:t>discussing how big data shapes future business intelligence.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chor="t">
            <a:normAutofit fontScale="92500" lnSpcReduction="10000"/>
          </a:bodyPr>
          <a:lstStyle/>
          <a:p>
            <a:r>
              <a:rPr lang="en-US" dirty="0">
                <a:latin typeface="Times New Roman"/>
                <a:ea typeface="+mn-lt"/>
                <a:cs typeface="+mn-lt"/>
              </a:rPr>
              <a:t>Analyzing of Big Data for </a:t>
            </a:r>
            <a:r>
              <a:rPr lang="en-US" dirty="0" err="1">
                <a:latin typeface="Times New Roman"/>
                <a:ea typeface="+mn-lt"/>
                <a:cs typeface="+mn-lt"/>
              </a:rPr>
              <a:t>DataSphere</a:t>
            </a:r>
            <a:r>
              <a:rPr lang="en-US" dirty="0">
                <a:latin typeface="Times New Roman"/>
                <a:ea typeface="+mn-lt"/>
                <a:cs typeface="+mn-lt"/>
              </a:rPr>
              <a:t> represents the enormous quantities of organized and disorganized data produced very quickly. Big Data is important for </a:t>
            </a:r>
            <a:r>
              <a:rPr lang="en-US" dirty="0" err="1">
                <a:latin typeface="Times New Roman"/>
                <a:ea typeface="+mn-lt"/>
                <a:cs typeface="+mn-lt"/>
              </a:rPr>
              <a:t>DataSphere</a:t>
            </a:r>
            <a:r>
              <a:rPr lang="en-US" dirty="0">
                <a:latin typeface="Times New Roman"/>
                <a:ea typeface="+mn-lt"/>
                <a:cs typeface="+mn-lt"/>
              </a:rPr>
              <a:t> because businesses and organizations use it to discover insights and guide their decision-making processes. Experts define Big Data complexities by breaking down its essential attributes into six fundamental characteristics called the Six V’s of Big Data. The six V’s of Big Data—Volume, Variety, Velocity, Veracity, Value, and Variability—provide understanding of the scale and diversity along with the challenges involved in managing vast datasets. </a:t>
            </a:r>
            <a:endParaRPr lang="en-US" dirty="0">
              <a:latin typeface="Times New Roman"/>
              <a:cs typeface="Times New Roman"/>
            </a:endParaRPr>
          </a:p>
        </p:txBody>
      </p:sp>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304449" y="637954"/>
            <a:ext cx="10749328" cy="5256788"/>
          </a:xfrm>
        </p:spPr>
        <p:txBody>
          <a:bodyPr/>
          <a:lstStyle/>
          <a:p>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The Big 6 V’s of Big Data explain why big data possesses both immense power and complexity. </a:t>
            </a:r>
            <a:br>
              <a:rPr lang="en-US" sz="2000" b="0" dirty="0">
                <a:latin typeface="Times New Roman" panose="02020603050405020304" pitchFamily="18" charset="0"/>
                <a:ea typeface="+mj-lt"/>
                <a:cs typeface="Times New Roman" panose="02020603050405020304" pitchFamily="18" charset="0"/>
              </a:rPr>
            </a:br>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Volume</a:t>
            </a:r>
            <a:r>
              <a:rPr lang="en-US" sz="2000" b="0" dirty="0">
                <a:latin typeface="Times New Roman" panose="02020603050405020304" pitchFamily="18" charset="0"/>
                <a:ea typeface="+mj-lt"/>
                <a:cs typeface="Times New Roman" panose="02020603050405020304" pitchFamily="18" charset="0"/>
              </a:rPr>
              <a:t> represents the enormous quantities of data produced every second including social media updates and sensor readings. </a:t>
            </a:r>
            <a:br>
              <a:rPr lang="en-US" sz="2000" b="0" dirty="0">
                <a:latin typeface="Times New Roman" panose="02020603050405020304" pitchFamily="18" charset="0"/>
                <a:ea typeface="+mj-lt"/>
                <a:cs typeface="Times New Roman" panose="02020603050405020304" pitchFamily="18" charset="0"/>
              </a:rPr>
            </a:br>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Velocity</a:t>
            </a:r>
            <a:r>
              <a:rPr lang="en-US" sz="2000" b="0" dirty="0">
                <a:latin typeface="Times New Roman" panose="02020603050405020304" pitchFamily="18" charset="0"/>
                <a:ea typeface="+mj-lt"/>
                <a:cs typeface="Times New Roman" panose="02020603050405020304" pitchFamily="18" charset="0"/>
              </a:rPr>
              <a:t> represents how fast we create, gather and process data streams which frequently operate in real-time environments. </a:t>
            </a:r>
            <a:br>
              <a:rPr lang="en-US" sz="2000" b="0" dirty="0">
                <a:latin typeface="Times New Roman" panose="02020603050405020304" pitchFamily="18" charset="0"/>
                <a:ea typeface="+mj-lt"/>
                <a:cs typeface="Times New Roman" panose="02020603050405020304" pitchFamily="18" charset="0"/>
              </a:rPr>
            </a:br>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Variety</a:t>
            </a:r>
            <a:r>
              <a:rPr lang="en-US" sz="2000" b="0" dirty="0">
                <a:latin typeface="Times New Roman" panose="02020603050405020304" pitchFamily="18" charset="0"/>
                <a:ea typeface="+mj-lt"/>
                <a:cs typeface="Times New Roman" panose="02020603050405020304" pitchFamily="18" charset="0"/>
              </a:rPr>
              <a:t> represents the multiple forms of data including structured data such as spreadsheets as well as semi-structured data like XML files and unstructured data such as videos and emails. </a:t>
            </a:r>
            <a:br>
              <a:rPr lang="en-US" sz="2000" b="0" dirty="0">
                <a:latin typeface="Times New Roman" panose="02020603050405020304" pitchFamily="18" charset="0"/>
                <a:ea typeface="+mj-lt"/>
                <a:cs typeface="Times New Roman" panose="02020603050405020304" pitchFamily="18" charset="0"/>
              </a:rPr>
            </a:br>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Veracity</a:t>
            </a:r>
            <a:r>
              <a:rPr lang="en-US" sz="2000" b="0" dirty="0">
                <a:latin typeface="Times New Roman" panose="02020603050405020304" pitchFamily="18" charset="0"/>
                <a:ea typeface="+mj-lt"/>
                <a:cs typeface="Times New Roman" panose="02020603050405020304" pitchFamily="18" charset="0"/>
              </a:rPr>
              <a:t> examines data trustworthiness and quality because poor data quality leads to poor decision-making. </a:t>
            </a:r>
            <a:br>
              <a:rPr lang="en-US" sz="2000" b="0" dirty="0">
                <a:latin typeface="Times New Roman" panose="02020603050405020304" pitchFamily="18" charset="0"/>
                <a:ea typeface="+mj-lt"/>
                <a:cs typeface="Times New Roman" panose="02020603050405020304" pitchFamily="18" charset="0"/>
              </a:rPr>
            </a:br>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Value</a:t>
            </a:r>
            <a:r>
              <a:rPr lang="en-US" sz="2000" b="0" dirty="0">
                <a:latin typeface="Times New Roman" panose="02020603050405020304" pitchFamily="18" charset="0"/>
                <a:ea typeface="+mj-lt"/>
                <a:cs typeface="Times New Roman" panose="02020603050405020304" pitchFamily="18" charset="0"/>
              </a:rPr>
              <a:t> reflects how actionable information derived from data supports users and organizations. </a:t>
            </a:r>
            <a:br>
              <a:rPr lang="en-US" sz="2000" b="0" dirty="0">
                <a:latin typeface="Times New Roman" panose="02020603050405020304" pitchFamily="18" charset="0"/>
                <a:ea typeface="+mj-lt"/>
                <a:cs typeface="Times New Roman" panose="02020603050405020304" pitchFamily="18" charset="0"/>
              </a:rPr>
            </a:br>
            <a:br>
              <a:rPr lang="en-US" sz="2000" b="0" dirty="0">
                <a:latin typeface="Times New Roman" panose="02020603050405020304" pitchFamily="18" charset="0"/>
                <a:ea typeface="+mj-lt"/>
                <a:cs typeface="Times New Roman" panose="02020603050405020304" pitchFamily="18" charset="0"/>
              </a:rPr>
            </a:br>
            <a:r>
              <a:rPr lang="en-US" sz="2000" dirty="0">
                <a:latin typeface="Times New Roman" panose="02020603050405020304" pitchFamily="18" charset="0"/>
                <a:ea typeface="+mj-lt"/>
                <a:cs typeface="Times New Roman" panose="02020603050405020304" pitchFamily="18" charset="0"/>
              </a:rPr>
              <a:t>Variability</a:t>
            </a:r>
            <a:r>
              <a:rPr lang="en-US" sz="2000" b="0" dirty="0">
                <a:latin typeface="Times New Roman" panose="02020603050405020304" pitchFamily="18" charset="0"/>
                <a:ea typeface="+mj-lt"/>
                <a:cs typeface="Times New Roman" panose="02020603050405020304" pitchFamily="18" charset="0"/>
              </a:rPr>
              <a:t> describes data flow inconsistencies which result from unpredictable spikes in data loads that complicate management efforts. The combination of these six V’s reveals both potential benefits and difficulties associated with big data projects.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5648B9-7D48-825E-7821-8142A4E200B4}"/>
              </a:ext>
            </a:extLst>
          </p:cNvPr>
          <p:cNvSpPr txBox="1"/>
          <p:nvPr/>
        </p:nvSpPr>
        <p:spPr>
          <a:xfrm>
            <a:off x="3009014" y="-180754"/>
            <a:ext cx="5742791"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The Big 6 V’s of Big Data</a:t>
            </a:r>
          </a:p>
        </p:txBody>
      </p:sp>
    </p:spTree>
    <p:extLst>
      <p:ext uri="{BB962C8B-B14F-4D97-AF65-F5344CB8AC3E}">
        <p14:creationId xmlns:p14="http://schemas.microsoft.com/office/powerpoint/2010/main" val="3662677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data processing">
            <a:extLst>
              <a:ext uri="{FF2B5EF4-FFF2-40B4-BE49-F238E27FC236}">
                <a16:creationId xmlns:a16="http://schemas.microsoft.com/office/drawing/2014/main" id="{EA417E26-EE89-6438-7D6E-2C19B4A706E5}"/>
              </a:ext>
            </a:extLst>
          </p:cNvPr>
          <p:cNvPicPr>
            <a:picLocks noGrp="1" noChangeAspect="1"/>
          </p:cNvPicPr>
          <p:nvPr>
            <p:ph idx="1"/>
          </p:nvPr>
        </p:nvPicPr>
        <p:blipFill>
          <a:blip r:embed="rId3"/>
          <a:stretch>
            <a:fillRect/>
          </a:stretch>
        </p:blipFill>
        <p:spPr>
          <a:xfrm>
            <a:off x="0" y="0"/>
            <a:ext cx="12192000" cy="6858000"/>
          </a:xfrm>
        </p:spPr>
      </p:pic>
    </p:spTree>
    <p:extLst>
      <p:ext uri="{BB962C8B-B14F-4D97-AF65-F5344CB8AC3E}">
        <p14:creationId xmlns:p14="http://schemas.microsoft.com/office/powerpoint/2010/main" val="958264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610AE5-9990-2676-4F08-4738EA743685}"/>
              </a:ext>
            </a:extLst>
          </p:cNvPr>
          <p:cNvSpPr>
            <a:spLocks noGrp="1"/>
          </p:cNvSpPr>
          <p:nvPr>
            <p:ph type="ctrTitle"/>
          </p:nvPr>
        </p:nvSpPr>
        <p:spPr>
          <a:xfrm>
            <a:off x="1167493" y="232912"/>
            <a:ext cx="10273139" cy="830343"/>
          </a:xfrm>
        </p:spPr>
        <p:txBody>
          <a:bodyPr/>
          <a:lstStyle/>
          <a:p>
            <a:r>
              <a:rPr lang="en-US" sz="4000" dirty="0">
                <a:latin typeface="Times New Roman" panose="02020603050405020304" pitchFamily="18" charset="0"/>
                <a:cs typeface="Times New Roman" panose="02020603050405020304" pitchFamily="18" charset="0"/>
              </a:rPr>
              <a:t>The Importance of Data for Decision Making</a:t>
            </a:r>
            <a:endParaRPr lang="en-GB" sz="4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1A9A854-0527-25A5-B696-A948EC7FB603}"/>
              </a:ext>
            </a:extLst>
          </p:cNvPr>
          <p:cNvSpPr txBox="1"/>
          <p:nvPr/>
        </p:nvSpPr>
        <p:spPr>
          <a:xfrm>
            <a:off x="0" y="1063255"/>
            <a:ext cx="12192000" cy="747897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Informed Decisions </a:t>
            </a:r>
          </a:p>
          <a:p>
            <a:r>
              <a:rPr lang="en-US" sz="2400" dirty="0">
                <a:latin typeface="Times New Roman" panose="02020603050405020304" pitchFamily="18" charset="0"/>
                <a:cs typeface="Times New Roman" panose="02020603050405020304" pitchFamily="18" charset="0"/>
              </a:rPr>
              <a:t>Data removes guesswork.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process enables teams and leaders to opt for evidence-based decisions over conjectural ones.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Performance Monitoring </a:t>
            </a:r>
          </a:p>
          <a:p>
            <a:r>
              <a:rPr lang="en-US" sz="2400" dirty="0">
                <a:latin typeface="Times New Roman" panose="02020603050405020304" pitchFamily="18" charset="0"/>
                <a:cs typeface="Times New Roman" panose="02020603050405020304" pitchFamily="18" charset="0"/>
              </a:rPr>
              <a:t>Helps track progress against goals (e.g., KPIs).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Reveals what strategies are working or failing.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3. Identifying Trends and Patterns </a:t>
            </a:r>
          </a:p>
          <a:p>
            <a:r>
              <a:rPr lang="en-US" sz="2400" dirty="0">
                <a:latin typeface="Times New Roman" panose="02020603050405020304" pitchFamily="18" charset="0"/>
                <a:cs typeface="Times New Roman" panose="02020603050405020304" pitchFamily="18" charset="0"/>
              </a:rPr>
              <a:t>Data uncovers hidden insights and behavioral patterns.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Organizations using data for their operations can quickly adjust to changing market situations.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7. Innovation and Growth </a:t>
            </a:r>
          </a:p>
          <a:p>
            <a:r>
              <a:rPr lang="en-US" sz="2400" dirty="0">
                <a:latin typeface="Times New Roman" panose="02020603050405020304" pitchFamily="18" charset="0"/>
                <a:cs typeface="Times New Roman" panose="02020603050405020304" pitchFamily="18" charset="0"/>
              </a:rPr>
              <a:t>Organizations can test new ideas by analyzing authentic feedback from their users.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Leads to continuous improvement and innovation. </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783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698432-2D58-D940-A0AE-7748E2A4879B}"/>
              </a:ext>
            </a:extLst>
          </p:cNvPr>
          <p:cNvSpPr>
            <a:spLocks noGrp="1"/>
          </p:cNvSpPr>
          <p:nvPr>
            <p:ph type="ctrTitle"/>
          </p:nvPr>
        </p:nvSpPr>
        <p:spPr>
          <a:xfrm>
            <a:off x="0" y="1125532"/>
            <a:ext cx="12192000" cy="5732468"/>
          </a:xfrm>
        </p:spPr>
        <p:txBody>
          <a:bodyPr>
            <a:normAutofit fontScale="90000"/>
          </a:bodyPr>
          <a:lstStyle/>
          <a:p>
            <a:pPr marL="285750" indent="-285750">
              <a:lnSpc>
                <a:spcPct val="150000"/>
              </a:lnSpc>
              <a:buFont typeface="Arial" panose="020B0604020202020204" pitchFamily="34" charset="0"/>
              <a:buChar char="•"/>
            </a:pPr>
            <a:br>
              <a:rPr lang="en-US" sz="16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Personalized User Experience: E-commerce and streaming platforms customize recommendation systems for their users.</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Informed Consumer Choices: The combination of reviews with price comparisons and analytics enables buyers to make better purchasing decisions.</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Improved Convenience: AI-powered assistants and automation optimize daily activities.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Privacy Concerns: Users need to understand what happens to their personal data during collection, storage, and utilization processes.</a:t>
            </a:r>
          </a:p>
        </p:txBody>
      </p:sp>
      <p:sp>
        <p:nvSpPr>
          <p:cNvPr id="2" name="TextBox 1">
            <a:extLst>
              <a:ext uri="{FF2B5EF4-FFF2-40B4-BE49-F238E27FC236}">
                <a16:creationId xmlns:a16="http://schemas.microsoft.com/office/drawing/2014/main" id="{24BC414A-1739-CCBE-9365-FF9829129465}"/>
              </a:ext>
            </a:extLst>
          </p:cNvPr>
          <p:cNvSpPr txBox="1"/>
          <p:nvPr/>
        </p:nvSpPr>
        <p:spPr>
          <a:xfrm>
            <a:off x="0" y="602313"/>
            <a:ext cx="1192018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End Users Experience the Effects of Data-Driven Decision-Making Processes</a:t>
            </a:r>
            <a:endParaRPr lang="en-US" sz="2800" b="1" dirty="0"/>
          </a:p>
        </p:txBody>
      </p:sp>
    </p:spTree>
    <p:extLst>
      <p:ext uri="{BB962C8B-B14F-4D97-AF65-F5344CB8AC3E}">
        <p14:creationId xmlns:p14="http://schemas.microsoft.com/office/powerpoint/2010/main" val="3749168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32408C-3DBA-0A21-529A-DC9D95758A58}"/>
              </a:ext>
            </a:extLst>
          </p:cNvPr>
          <p:cNvSpPr txBox="1"/>
          <p:nvPr/>
        </p:nvSpPr>
        <p:spPr>
          <a:xfrm>
            <a:off x="0" y="417156"/>
            <a:ext cx="12191999" cy="6484339"/>
          </a:xfrm>
          <a:prstGeom prst="rect">
            <a:avLst/>
          </a:prstGeom>
          <a:noFill/>
        </p:spPr>
        <p:txBody>
          <a:bodyPr wrap="square" lIns="91440" tIns="45720" rIns="91440" bIns="45720" rtlCol="0" anchor="t">
            <a:spAutoFit/>
          </a:bodyPr>
          <a:lstStyle/>
          <a:p>
            <a:r>
              <a:rPr lang="en-US" sz="2800" b="1" dirty="0">
                <a:latin typeface="Times New Roman" panose="02020603050405020304" pitchFamily="18" charset="0"/>
                <a:cs typeface="Times New Roman" panose="02020603050405020304" pitchFamily="18" charset="0"/>
              </a:rPr>
              <a:t>The Impact of Data-Driven Decision-Making on Organizations and End Users</a:t>
            </a:r>
          </a:p>
          <a:p>
            <a:r>
              <a:rPr lang="en-US" sz="2800" b="1" dirty="0">
                <a:latin typeface="Times New Roman" panose="02020603050405020304" pitchFamily="18" charset="0"/>
                <a:cs typeface="Times New Roman" panose="02020603050405020304" pitchFamily="18" charset="0"/>
              </a:rPr>
              <a:t>Analyzing Benefits, Challenges, and Strategic Implications</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Introduction to Data-Driven Decision-Making </a:t>
            </a:r>
          </a:p>
          <a:p>
            <a:br>
              <a:rPr lang="en-US" sz="1200" dirty="0">
                <a:latin typeface="Times New Roman" panose="02020603050405020304" pitchFamily="18" charset="0"/>
                <a:cs typeface="Times New Roman" panose="02020603050405020304" pitchFamily="18" charset="0"/>
              </a:rPr>
            </a:br>
            <a:r>
              <a:rPr lang="en-US" sz="1200" b="1" dirty="0">
                <a:latin typeface="Times New Roman"/>
                <a:cs typeface="Times New Roman"/>
              </a:rPr>
              <a:t>Definition: Data-driven decision-making (DDDM) uses data analysis results to direct organizational strategies and operational activities.</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a:cs typeface="Times New Roman"/>
              </a:rPr>
              <a:t>Relevance: Both organizations and end users experience enhanced efficiency and accuracy together with better strategic foresight through data-driven decision-making.</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a:cs typeface="Times New Roman"/>
              </a:rPr>
              <a:t>Purpose of Presentation: This presentation aims to explore how data utilization affects decision-making by identifying benefits and challenges as well as its overall impact.</a:t>
            </a:r>
          </a:p>
          <a:p>
            <a:endParaRPr lang="en-US" sz="1200"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r>
              <a:rPr lang="en-US" sz="1600" b="1" dirty="0">
                <a:latin typeface="Times New Roman"/>
                <a:cs typeface="Times New Roman"/>
              </a:rPr>
              <a:t>Advantages of Data-Driven Decision-Making for Organizations </a:t>
            </a: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sz="1200" b="1" dirty="0">
                <a:latin typeface="Times New Roman"/>
                <a:cs typeface="Times New Roman"/>
              </a:rPr>
              <a:t>Improved Accuracy: Data-driven business decisions occur because data removes uncertainty from decision-making processes.</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a:cs typeface="Times New Roman"/>
              </a:rPr>
              <a:t>Operational Efficiency: Automation and AI-driven insights streamline workflows. </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a:cs typeface="Times New Roman"/>
              </a:rPr>
              <a:t>Enhanced Customer Experience: Personalized recommendations and targeted marketing. </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a:cs typeface="Times New Roman"/>
              </a:rPr>
              <a:t>Competitive Advantage: Organizations that utilize big data obtain valuable market trend information.</a:t>
            </a:r>
            <a:br>
              <a:rPr lang="en-US" sz="1200" b="1" dirty="0">
                <a:latin typeface="Times New Roman" panose="02020603050405020304" pitchFamily="18" charset="0"/>
                <a:cs typeface="Times New Roman" panose="02020603050405020304" pitchFamily="18" charset="0"/>
              </a:rPr>
            </a:br>
            <a:br>
              <a:rPr lang="en-US" sz="1200" b="1" dirty="0">
                <a:latin typeface="Times New Roman" panose="02020603050405020304" pitchFamily="18" charset="0"/>
                <a:cs typeface="Times New Roman" panose="02020603050405020304" pitchFamily="18" charset="0"/>
              </a:rPr>
            </a:br>
            <a:r>
              <a:rPr lang="en-US" sz="1200" b="1" dirty="0">
                <a:latin typeface="Times New Roman"/>
                <a:cs typeface="Times New Roman"/>
              </a:rPr>
              <a:t>Risk Mitigation: Predictive analytics enhances fraud detection systems and cybersecurity protocols.</a:t>
            </a:r>
          </a:p>
          <a:p>
            <a:r>
              <a:rPr lang="en-US" sz="1200" b="1" dirty="0">
                <a:latin typeface="Times New Roman"/>
                <a:cs typeface="Times New Roman"/>
              </a:rPr>
              <a:t>A research I used for DDDM </a:t>
            </a:r>
            <a:r>
              <a:rPr lang="en-GB" sz="1200" b="1" dirty="0">
                <a:latin typeface="Times New Roman"/>
                <a:cs typeface="Times New Roman"/>
              </a:rPr>
              <a:t>(Dana </a:t>
            </a:r>
            <a:r>
              <a:rPr lang="en-GB" sz="1200" b="1" dirty="0" err="1">
                <a:latin typeface="Times New Roman"/>
                <a:cs typeface="Times New Roman"/>
              </a:rPr>
              <a:t>Lagzi</a:t>
            </a:r>
            <a:r>
              <a:rPr lang="en-GB" sz="1200" b="1" dirty="0">
                <a:latin typeface="Times New Roman"/>
                <a:cs typeface="Times New Roman"/>
              </a:rPr>
              <a:t>,, et al., 2025)</a:t>
            </a:r>
          </a:p>
          <a:p>
            <a:endParaRPr lang="en-US" sz="1200" b="1" dirty="0">
              <a:latin typeface="Times New Roman"/>
              <a:cs typeface="Times New Roman"/>
            </a:endParaRPr>
          </a:p>
        </p:txBody>
      </p:sp>
    </p:spTree>
    <p:extLst>
      <p:ext uri="{BB962C8B-B14F-4D97-AF65-F5344CB8AC3E}">
        <p14:creationId xmlns:p14="http://schemas.microsoft.com/office/powerpoint/2010/main" val="2955403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37C1F82-2AF4-AA4A-4849-9480D69714DA}"/>
              </a:ext>
            </a:extLst>
          </p:cNvPr>
          <p:cNvSpPr>
            <a:spLocks noGrp="1"/>
          </p:cNvSpPr>
          <p:nvPr>
            <p:ph type="ctrTitle"/>
          </p:nvPr>
        </p:nvSpPr>
        <p:spPr>
          <a:xfrm>
            <a:off x="-1" y="252550"/>
            <a:ext cx="8250866" cy="3011646"/>
          </a:xfrm>
        </p:spPr>
        <p:txBody>
          <a:bodyPr/>
          <a:lstStyle/>
          <a:p>
            <a:pPr>
              <a:lnSpc>
                <a:spcPct val="150000"/>
              </a:lnSpc>
            </a:pPr>
            <a:r>
              <a:rPr lang="en-US" sz="1600" dirty="0">
                <a:latin typeface="Times New Roman" panose="02020603050405020304" pitchFamily="18" charset="0"/>
                <a:cs typeface="Times New Roman" panose="02020603050405020304" pitchFamily="18" charset="0"/>
              </a:rPr>
              <a:t>Challenges of Data-Driven Decision-Making for Organizations </a:t>
            </a:r>
            <a:br>
              <a:rPr lang="en-US" sz="1400" b="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Data Overload: </a:t>
            </a:r>
            <a:r>
              <a:rPr lang="en-US" sz="1400" b="0" dirty="0">
                <a:latin typeface="Times New Roman" panose="02020603050405020304" pitchFamily="18" charset="0"/>
                <a:cs typeface="Times New Roman" panose="02020603050405020304" pitchFamily="18" charset="0"/>
              </a:rPr>
              <a:t>Analysis becomes complex and time-consuming when there is too much data.</a:t>
            </a:r>
            <a:br>
              <a:rPr lang="en-US" sz="1400" b="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Data Privacy and Compliance: </a:t>
            </a:r>
            <a:r>
              <a:rPr lang="en-US" sz="1400" b="0" dirty="0">
                <a:latin typeface="Times New Roman" panose="02020603050405020304" pitchFamily="18" charset="0"/>
                <a:cs typeface="Times New Roman" panose="02020603050405020304" pitchFamily="18" charset="0"/>
              </a:rPr>
              <a:t>Compliance with regulations like GDPR is essential for organizations.</a:t>
            </a:r>
            <a:br>
              <a:rPr lang="en-US" sz="1400" b="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Integration Issues: </a:t>
            </a:r>
            <a:r>
              <a:rPr lang="en-US" sz="1400" b="0" dirty="0">
                <a:latin typeface="Times New Roman" panose="02020603050405020304" pitchFamily="18" charset="0"/>
                <a:cs typeface="Times New Roman" panose="02020603050405020304" pitchFamily="18" charset="0"/>
              </a:rPr>
              <a:t>Organizations need to ensure their systems work together flawlessly to merge data from several different sources.</a:t>
            </a:r>
            <a:br>
              <a:rPr lang="en-US" sz="1400" b="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High Implementation Costs: </a:t>
            </a:r>
            <a:r>
              <a:rPr lang="en-US" sz="1400" b="0" dirty="0">
                <a:latin typeface="Times New Roman" panose="02020603050405020304" pitchFamily="18" charset="0"/>
                <a:cs typeface="Times New Roman" panose="02020603050405020304" pitchFamily="18" charset="0"/>
              </a:rPr>
              <a:t>Advanced analytics tools and AI models demand substantial financial resources.</a:t>
            </a:r>
            <a:br>
              <a:rPr lang="en-US" sz="1400" b="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Human Resistance: </a:t>
            </a:r>
            <a:r>
              <a:rPr lang="en-US" sz="1400" b="0" dirty="0">
                <a:latin typeface="Times New Roman" panose="02020603050405020304" pitchFamily="18" charset="0"/>
                <a:cs typeface="Times New Roman" panose="02020603050405020304" pitchFamily="18" charset="0"/>
              </a:rPr>
              <a:t>Workers show resistance towards data-based decision-making because they worry their positions will be automated.</a:t>
            </a:r>
            <a:br>
              <a:rPr lang="en-US" sz="1400" b="0" dirty="0">
                <a:latin typeface="Times New Roman" panose="02020603050405020304" pitchFamily="18" charset="0"/>
                <a:cs typeface="Times New Roman" panose="02020603050405020304" pitchFamily="18" charset="0"/>
              </a:rPr>
            </a:br>
            <a:endParaRPr lang="en-US" sz="1400" b="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type="subTitle" idx="1"/>
          </p:nvPr>
        </p:nvSpPr>
        <p:spPr>
          <a:xfrm>
            <a:off x="191387" y="2913321"/>
            <a:ext cx="7850172" cy="3827720"/>
          </a:xfrm>
        </p:spPr>
        <p:txBody>
          <a:bodyPr>
            <a:noAutofit/>
          </a:bodyPr>
          <a:lstStyle/>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The Impact of Data-Driven Decision-Making on Organizations </a:t>
            </a:r>
          </a:p>
          <a:p>
            <a:pPr>
              <a:lnSpc>
                <a:spcPct val="150000"/>
              </a:lnSpc>
            </a:pPr>
            <a:r>
              <a:rPr lang="en-US" sz="1400" b="1" dirty="0">
                <a:latin typeface="Times New Roman" panose="02020603050405020304" pitchFamily="18" charset="0"/>
                <a:cs typeface="Times New Roman" panose="02020603050405020304" pitchFamily="18" charset="0"/>
              </a:rPr>
              <a:t>Market Insights: </a:t>
            </a:r>
            <a:r>
              <a:rPr lang="en-US" sz="1400" dirty="0">
                <a:latin typeface="Times New Roman" panose="02020603050405020304" pitchFamily="18" charset="0"/>
                <a:cs typeface="Times New Roman" panose="02020603050405020304" pitchFamily="18" charset="0"/>
              </a:rPr>
              <a:t>Through data analytics businesses acquire knowledge about customer habits and industry trends.</a:t>
            </a:r>
          </a:p>
          <a:p>
            <a:pPr>
              <a:lnSpc>
                <a:spcPct val="150000"/>
              </a:lnSpc>
            </a:pPr>
            <a:r>
              <a:rPr lang="en-US" sz="1400" b="1" dirty="0">
                <a:latin typeface="Times New Roman" panose="02020603050405020304" pitchFamily="18" charset="0"/>
                <a:cs typeface="Times New Roman" panose="02020603050405020304" pitchFamily="18" charset="0"/>
              </a:rPr>
              <a:t>Enhanced Strategic Planning: </a:t>
            </a:r>
            <a:r>
              <a:rPr lang="en-US" sz="1400" dirty="0">
                <a:latin typeface="Times New Roman" panose="02020603050405020304" pitchFamily="18" charset="0"/>
                <a:cs typeface="Times New Roman" panose="02020603050405020304" pitchFamily="18" charset="0"/>
              </a:rPr>
              <a:t>Business growth over the long term and decision-making processes benefit from the use of forecasting tools.</a:t>
            </a:r>
          </a:p>
          <a:p>
            <a:pPr>
              <a:lnSpc>
                <a:spcPct val="150000"/>
              </a:lnSpc>
            </a:pPr>
            <a:r>
              <a:rPr lang="en-US" sz="1400" b="1" dirty="0">
                <a:latin typeface="Times New Roman" panose="02020603050405020304" pitchFamily="18" charset="0"/>
                <a:cs typeface="Times New Roman" panose="02020603050405020304" pitchFamily="18" charset="0"/>
              </a:rPr>
              <a:t>Real-Time Decision-Making: </a:t>
            </a:r>
            <a:r>
              <a:rPr lang="en-US" sz="1400" dirty="0">
                <a:latin typeface="Times New Roman" panose="02020603050405020304" pitchFamily="18" charset="0"/>
                <a:cs typeface="Times New Roman" panose="02020603050405020304" pitchFamily="18" charset="0"/>
              </a:rPr>
              <a:t>Live data analysis enables organizations to make rapid responses to changes in market conditions.</a:t>
            </a:r>
          </a:p>
          <a:p>
            <a:pPr>
              <a:lnSpc>
                <a:spcPct val="150000"/>
              </a:lnSpc>
            </a:pPr>
            <a:r>
              <a:rPr lang="en-US" sz="1400" b="1" dirty="0">
                <a:latin typeface="Times New Roman" panose="02020603050405020304" pitchFamily="18" charset="0"/>
                <a:cs typeface="Times New Roman" panose="02020603050405020304" pitchFamily="18" charset="0"/>
              </a:rPr>
              <a:t>Data Security Risks: </a:t>
            </a:r>
            <a:r>
              <a:rPr lang="en-US" sz="1400" dirty="0">
                <a:latin typeface="Times New Roman" panose="02020603050405020304" pitchFamily="18" charset="0"/>
                <a:cs typeface="Times New Roman" panose="02020603050405020304" pitchFamily="18" charset="0"/>
              </a:rPr>
              <a:t>Companies need to protect sensitive information belonging to both customers and themselves against unauthorized access.</a:t>
            </a:r>
          </a:p>
          <a:p>
            <a:pPr>
              <a:lnSpc>
                <a:spcPct val="15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287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42A42-9E8B-7AD9-7AD3-F7C2BF98151A}"/>
              </a:ext>
            </a:extLst>
          </p:cNvPr>
          <p:cNvSpPr>
            <a:spLocks noGrp="1"/>
          </p:cNvSpPr>
          <p:nvPr>
            <p:ph type="title"/>
          </p:nvPr>
        </p:nvSpPr>
        <p:spPr/>
        <p:txBody>
          <a:bodyPr vert="horz" lIns="91440" tIns="45720" rIns="91440" bIns="45720" rtlCol="0" anchor="b">
            <a:normAutofit fontScale="90000"/>
          </a:bodyPr>
          <a:lstStyle/>
          <a:p>
            <a:r>
              <a:rPr lang="en-US" b="1" i="0" kern="1200">
                <a:effectLst/>
                <a:latin typeface="+mj-lt"/>
                <a:ea typeface="+mj-ea"/>
                <a:cs typeface="+mj-cs"/>
              </a:rPr>
              <a:t>Google and Walmart both leverage data to drive their decision-making processes.</a:t>
            </a:r>
            <a:endParaRPr lang="en-US" b="1" kern="1200">
              <a:latin typeface="+mj-lt"/>
              <a:ea typeface="+mj-ea"/>
              <a:cs typeface="+mj-cs"/>
            </a:endParaRPr>
          </a:p>
        </p:txBody>
      </p:sp>
      <p:sp>
        <p:nvSpPr>
          <p:cNvPr id="4" name="Content Placeholder 3">
            <a:extLst>
              <a:ext uri="{FF2B5EF4-FFF2-40B4-BE49-F238E27FC236}">
                <a16:creationId xmlns:a16="http://schemas.microsoft.com/office/drawing/2014/main" id="{F9DD7CFD-7C14-73A8-B209-79253746FD76}"/>
              </a:ext>
            </a:extLst>
          </p:cNvPr>
          <p:cNvSpPr>
            <a:spLocks noGrp="1"/>
          </p:cNvSpPr>
          <p:nvPr>
            <p:ph idx="1"/>
          </p:nvPr>
        </p:nvSpPr>
        <p:spPr/>
        <p:txBody>
          <a:bodyPr vert="horz" lIns="91440" tIns="45720" rIns="91440" bIns="45720" rtlCol="0">
            <a:normAutofit fontScale="92500"/>
          </a:bodyPr>
          <a:lstStyle/>
          <a:p>
            <a:r>
              <a:rPr lang="en-US" sz="1300" b="0" i="0">
                <a:effectLst/>
              </a:rPr>
              <a:t>Google:</a:t>
            </a:r>
            <a:br>
              <a:rPr lang="en-US" sz="1300"/>
            </a:br>
            <a:br>
              <a:rPr lang="en-US" sz="1300"/>
            </a:br>
            <a:r>
              <a:rPr lang="en-US" sz="1300" b="0" i="0">
                <a:effectLst/>
              </a:rPr>
              <a:t>Search Algorithms: Google combines data analytics and machine learning to improve both search accuracy and user experience.</a:t>
            </a:r>
            <a:br>
              <a:rPr lang="en-US" sz="1300"/>
            </a:br>
            <a:br>
              <a:rPr lang="en-US" sz="1300"/>
            </a:br>
            <a:r>
              <a:rPr lang="en-US" sz="1300" b="0" i="0">
                <a:effectLst/>
              </a:rPr>
              <a:t>Advertising (Google Ads): Businesses use targeted advertisement strategies based on data collected from user browsing history and engagement patterns.</a:t>
            </a:r>
            <a:br>
              <a:rPr lang="en-US" sz="1300"/>
            </a:br>
            <a:br>
              <a:rPr lang="en-US" sz="1300"/>
            </a:br>
            <a:r>
              <a:rPr lang="en-US" sz="1300" b="0" i="0">
                <a:effectLst/>
              </a:rPr>
              <a:t>Cloud Services &amp; AI: Through its cloud services Google collects business data to enable artificial intelligence-driven insights and optimization.</a:t>
            </a:r>
            <a:br>
              <a:rPr lang="en-US" sz="1300"/>
            </a:br>
            <a:br>
              <a:rPr lang="en-US" sz="1300"/>
            </a:br>
            <a:r>
              <a:rPr lang="en-US" sz="1300" b="0" i="0">
                <a:effectLst/>
              </a:rPr>
              <a:t>YouTube Personalization: The YouTube personalization system uses user behavior data to make content suggestions.</a:t>
            </a:r>
            <a:endParaRPr lang="en-US" sz="1300"/>
          </a:p>
        </p:txBody>
      </p:sp>
      <p:sp>
        <p:nvSpPr>
          <p:cNvPr id="5" name="TextBox 4">
            <a:extLst>
              <a:ext uri="{FF2B5EF4-FFF2-40B4-BE49-F238E27FC236}">
                <a16:creationId xmlns:a16="http://schemas.microsoft.com/office/drawing/2014/main" id="{F8FC8263-CCCE-906C-C71D-530DA551BFB6}"/>
              </a:ext>
            </a:extLst>
          </p:cNvPr>
          <p:cNvSpPr txBox="1"/>
          <p:nvPr/>
        </p:nvSpPr>
        <p:spPr>
          <a:xfrm>
            <a:off x="6283235" y="2023984"/>
            <a:ext cx="4663440" cy="3332832"/>
          </a:xfrm>
          <a:prstGeom prst="rect">
            <a:avLst/>
          </a:prstGeom>
        </p:spPr>
        <p:txBody>
          <a:bodyPr vert="horz" lIns="91440" tIns="45720" rIns="91440" bIns="45720" rtlCol="0">
            <a:normAutofit/>
          </a:bodyPr>
          <a:lstStyle/>
          <a:p>
            <a:pPr>
              <a:lnSpc>
                <a:spcPct val="90000"/>
              </a:lnSpc>
              <a:spcBef>
                <a:spcPts val="1000"/>
              </a:spcBef>
              <a:buFont typeface="Arial" panose="020B0604020202020204" pitchFamily="34" charset="0"/>
            </a:pPr>
            <a:r>
              <a:rPr lang="en-US" sz="1300" b="0" i="0">
                <a:effectLst/>
              </a:rPr>
              <a:t>Walmart:</a:t>
            </a:r>
            <a:br>
              <a:rPr lang="en-US" sz="1300"/>
            </a:br>
            <a:br>
              <a:rPr lang="en-US" sz="1300"/>
            </a:br>
            <a:r>
              <a:rPr lang="en-US" sz="1300" b="0" i="0">
                <a:effectLst/>
              </a:rPr>
              <a:t>Inventory Management: Walmart utilizes real-time sales data to efficiently forecast demand and manage restocking operations.</a:t>
            </a:r>
            <a:br>
              <a:rPr lang="en-US" sz="1300"/>
            </a:br>
            <a:br>
              <a:rPr lang="en-US" sz="1300"/>
            </a:br>
            <a:r>
              <a:rPr lang="en-US" sz="1300" b="0" i="0">
                <a:effectLst/>
              </a:rPr>
              <a:t>Customer Insights: Walmart optimizes pricing strategies and product placement through analysis of customer shopping behavior.</a:t>
            </a:r>
            <a:br>
              <a:rPr lang="en-US" sz="1300"/>
            </a:br>
            <a:br>
              <a:rPr lang="en-US" sz="1300"/>
            </a:br>
            <a:r>
              <a:rPr lang="en-US" sz="1300" b="0" i="0">
                <a:effectLst/>
              </a:rPr>
              <a:t>Supply Chain Optimization: Supplier coordination and logistics planning experience improvements through big data analytics.</a:t>
            </a:r>
            <a:br>
              <a:rPr lang="en-US" sz="1300"/>
            </a:br>
            <a:br>
              <a:rPr lang="en-US" sz="1300"/>
            </a:br>
            <a:r>
              <a:rPr lang="en-US" sz="1300" b="0" i="0">
                <a:effectLst/>
              </a:rPr>
              <a:t>Checkout &amp; Payment Solutions: The retail experience improves through AI-enhanced self-checkout systems and fraud detection mechanisms.</a:t>
            </a:r>
            <a:endParaRPr lang="en-US" sz="1300"/>
          </a:p>
        </p:txBody>
      </p:sp>
    </p:spTree>
    <p:extLst>
      <p:ext uri="{BB962C8B-B14F-4D97-AF65-F5344CB8AC3E}">
        <p14:creationId xmlns:p14="http://schemas.microsoft.com/office/powerpoint/2010/main" val="172768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Placeholder 62">
            <a:extLst>
              <a:ext uri="{FF2B5EF4-FFF2-40B4-BE49-F238E27FC236}">
                <a16:creationId xmlns:a16="http://schemas.microsoft.com/office/drawing/2014/main" id="{9EFE5C42-059F-482E-C029-E8FA5107EEDA}"/>
              </a:ext>
            </a:extLst>
          </p:cNvPr>
          <p:cNvSpPr>
            <a:spLocks noGrp="1"/>
          </p:cNvSpPr>
          <p:nvPr>
            <p:ph sz="quarter" idx="4"/>
          </p:nvPr>
        </p:nvSpPr>
        <p:spPr>
          <a:xfrm>
            <a:off x="796705" y="325926"/>
            <a:ext cx="5146261" cy="6437184"/>
          </a:xfrm>
        </p:spPr>
        <p:txBody>
          <a:bodyPr>
            <a:normAutofit fontScale="92500"/>
          </a:bodyPr>
          <a:lstStyle/>
          <a:p>
            <a:pPr marL="0" indent="0">
              <a:lnSpc>
                <a:spcPct val="160000"/>
              </a:lnSpc>
              <a:buNone/>
            </a:pPr>
            <a:r>
              <a:rPr lang="en-US" sz="1600" b="1" dirty="0">
                <a:latin typeface="Times New Roman" panose="02020603050405020304" pitchFamily="18" charset="0"/>
                <a:cs typeface="Times New Roman" panose="02020603050405020304" pitchFamily="18" charset="0"/>
              </a:rPr>
              <a:t>Data Utilization at the Management Level </a:t>
            </a:r>
          </a:p>
          <a:p>
            <a:pPr marL="0" indent="0">
              <a:lnSpc>
                <a:spcPct val="160000"/>
              </a:lnSpc>
              <a:buNone/>
            </a:pPr>
            <a:r>
              <a:rPr lang="en-US" sz="1200" dirty="0">
                <a:latin typeface="Times New Roman" panose="02020603050405020304" pitchFamily="18" charset="0"/>
                <a:cs typeface="Times New Roman" panose="02020603050405020304" pitchFamily="18" charset="0"/>
              </a:rPr>
              <a:t>Performance Monitoring: Key Performance Indicators (KPIs) help businesses evaluate their progression.</a:t>
            </a:r>
          </a:p>
          <a:p>
            <a:pPr marL="0" indent="0">
              <a:lnSpc>
                <a:spcPct val="160000"/>
              </a:lnSpc>
              <a:buNone/>
            </a:pPr>
            <a:r>
              <a:rPr lang="en-US" sz="1200" dirty="0">
                <a:latin typeface="Times New Roman" panose="02020603050405020304" pitchFamily="18" charset="0"/>
                <a:cs typeface="Times New Roman" panose="02020603050405020304" pitchFamily="18" charset="0"/>
              </a:rPr>
              <a:t>Predictive Analytics: Anticipating future trends aids proactive decision-making. </a:t>
            </a:r>
          </a:p>
          <a:p>
            <a:pPr marL="0" indent="0">
              <a:lnSpc>
                <a:spcPct val="160000"/>
              </a:lnSpc>
              <a:buNone/>
            </a:pPr>
            <a:r>
              <a:rPr lang="en-US" sz="1200" dirty="0">
                <a:latin typeface="Times New Roman" panose="02020603050405020304" pitchFamily="18" charset="0"/>
                <a:cs typeface="Times New Roman" panose="02020603050405020304" pitchFamily="18" charset="0"/>
              </a:rPr>
              <a:t>Prescriptive Analytics: Data-driven recommendations optimize decision outcomes. </a:t>
            </a:r>
          </a:p>
          <a:p>
            <a:pPr marL="0" indent="0">
              <a:lnSpc>
                <a:spcPct val="160000"/>
              </a:lnSpc>
              <a:buNone/>
            </a:pPr>
            <a:r>
              <a:rPr lang="en-US" sz="1200" dirty="0">
                <a:latin typeface="Times New Roman" panose="02020603050405020304" pitchFamily="18" charset="0"/>
                <a:cs typeface="Times New Roman" panose="02020603050405020304" pitchFamily="18" charset="0"/>
              </a:rPr>
              <a:t>Risk Assessment: Data helps management detect potential threats and take appropriate mitigation actions.</a:t>
            </a:r>
          </a:p>
          <a:p>
            <a:pPr marL="0" indent="0">
              <a:lnSpc>
                <a:spcPct val="160000"/>
              </a:lnSpc>
              <a:buNone/>
            </a:pPr>
            <a:endParaRPr lang="en-US" sz="1200" dirty="0">
              <a:latin typeface="Times New Roman" panose="02020603050405020304" pitchFamily="18" charset="0"/>
              <a:cs typeface="Times New Roman" panose="02020603050405020304" pitchFamily="18" charset="0"/>
            </a:endParaRPr>
          </a:p>
          <a:p>
            <a:pPr marL="0" indent="0">
              <a:lnSpc>
                <a:spcPct val="160000"/>
              </a:lnSpc>
              <a:buNone/>
            </a:pPr>
            <a:endParaRPr lang="en-US" sz="1200" dirty="0">
              <a:latin typeface="Times New Roman" panose="02020603050405020304" pitchFamily="18" charset="0"/>
              <a:cs typeface="Times New Roman" panose="02020603050405020304" pitchFamily="18" charset="0"/>
            </a:endParaRPr>
          </a:p>
          <a:p>
            <a:pPr marL="0" indent="0">
              <a:lnSpc>
                <a:spcPct val="160000"/>
              </a:lnSpc>
              <a:buNone/>
            </a:pPr>
            <a:endParaRPr lang="en-US" sz="1200" dirty="0">
              <a:latin typeface="Times New Roman" panose="02020603050405020304" pitchFamily="18" charset="0"/>
              <a:cs typeface="Times New Roman" panose="02020603050405020304" pitchFamily="18" charset="0"/>
            </a:endParaRPr>
          </a:p>
          <a:p>
            <a:pPr marL="0" indent="0">
              <a:buNone/>
            </a:pPr>
            <a:r>
              <a:rPr lang="en-US" sz="1700" b="1" dirty="0">
                <a:latin typeface="Times New Roman" panose="02020603050405020304" pitchFamily="18" charset="0"/>
                <a:cs typeface="Times New Roman" panose="02020603050405020304" pitchFamily="18" charset="0"/>
              </a:rPr>
              <a:t>Conclusion </a:t>
            </a:r>
          </a:p>
          <a:p>
            <a:pPr marL="0" indent="0">
              <a:buNone/>
            </a:pPr>
            <a:r>
              <a:rPr lang="en-US" sz="1300" dirty="0">
                <a:latin typeface="Times New Roman" panose="02020603050405020304" pitchFamily="18" charset="0"/>
                <a:cs typeface="Times New Roman" panose="02020603050405020304" pitchFamily="18" charset="0"/>
              </a:rPr>
              <a:t>Organizations achieve greater efficiency and accuracy in strategic planning through data-driven decision-making.</a:t>
            </a:r>
          </a:p>
          <a:p>
            <a:pPr marL="0" indent="0">
              <a:buNone/>
            </a:pPr>
            <a:r>
              <a:rPr lang="en-US" sz="1300" dirty="0">
                <a:latin typeface="Times New Roman" panose="02020603050405020304" pitchFamily="18" charset="0"/>
                <a:cs typeface="Times New Roman" panose="02020603050405020304" pitchFamily="18" charset="0"/>
              </a:rPr>
              <a:t>Organizations gain market advantages through data usage even while facing difficulties.</a:t>
            </a:r>
          </a:p>
          <a:p>
            <a:pPr marL="0" indent="0">
              <a:buNone/>
            </a:pPr>
            <a:r>
              <a:rPr lang="en-US" sz="1300" dirty="0">
                <a:latin typeface="Times New Roman" panose="02020603050405020304" pitchFamily="18" charset="0"/>
                <a:cs typeface="Times New Roman" panose="02020603050405020304" pitchFamily="18" charset="0"/>
              </a:rPr>
              <a:t>Improved services benefit users while they need to stay aware of privacy issues.</a:t>
            </a:r>
          </a:p>
          <a:p>
            <a:pPr marL="0" indent="0">
              <a:buNone/>
            </a:pPr>
            <a:r>
              <a:rPr lang="en-US" sz="1300" dirty="0">
                <a:latin typeface="Times New Roman" panose="02020603050405020304" pitchFamily="18" charset="0"/>
                <a:cs typeface="Times New Roman" panose="02020603050405020304" pitchFamily="18" charset="0"/>
              </a:rPr>
              <a:t>The implementation of ethical data practices alongside proper governance leads to sustainable success.</a:t>
            </a:r>
          </a:p>
          <a:p>
            <a:pPr marL="0" indent="0">
              <a:lnSpc>
                <a:spcPct val="160000"/>
              </a:lnSpc>
              <a:buNone/>
            </a:pPr>
            <a:endParaRPr lang="en-US" sz="1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9A1780B-5ECC-22B3-3320-DAC7DCDED16C}"/>
              </a:ext>
            </a:extLst>
          </p:cNvPr>
          <p:cNvSpPr txBox="1"/>
          <p:nvPr/>
        </p:nvSpPr>
        <p:spPr>
          <a:xfrm>
            <a:off x="6491336" y="325925"/>
            <a:ext cx="5576934" cy="2277547"/>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Real-World Examples of Data-Driven Decision-Making </a:t>
            </a:r>
          </a:p>
          <a:p>
            <a:endParaRPr lang="en-US"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Retail: Amazon’s recommendation engine enhances customer experience. </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Healthcare: Advanced diagnostic systems driven by artificial intelligence together with patient data work to enhance treatment approaches.</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Finance: Banks deploy fraud detection systems to find suspicious activities.</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Logistics: The implementation of real-time tracking systems enables supply chain management improvements and better delivery route planning.</a:t>
            </a:r>
          </a:p>
        </p:txBody>
      </p:sp>
      <p:sp>
        <p:nvSpPr>
          <p:cNvPr id="9" name="TextBox 8">
            <a:extLst>
              <a:ext uri="{FF2B5EF4-FFF2-40B4-BE49-F238E27FC236}">
                <a16:creationId xmlns:a16="http://schemas.microsoft.com/office/drawing/2014/main" id="{3593DDCB-4064-F751-C814-288036C90F53}"/>
              </a:ext>
            </a:extLst>
          </p:cNvPr>
          <p:cNvSpPr txBox="1"/>
          <p:nvPr/>
        </p:nvSpPr>
        <p:spPr>
          <a:xfrm>
            <a:off x="6730410" y="4486939"/>
            <a:ext cx="5337860" cy="2308324"/>
          </a:xfrm>
          <a:prstGeom prst="rect">
            <a:avLst/>
          </a:prstGeom>
          <a:noFill/>
        </p:spPr>
        <p:txBody>
          <a:bodyPr wrap="square" rtlCol="0">
            <a:spAutoFit/>
          </a:bodyPr>
          <a:lstStyle/>
          <a:p>
            <a:r>
              <a:rPr lang="en-US" sz="1600" dirty="0">
                <a:latin typeface="Times New Roman"/>
                <a:ea typeface="+mn-lt"/>
                <a:cs typeface="+mn-lt"/>
              </a:rPr>
              <a:t>The Six V’s framework offers a complete approach to grasp both the challenges and opportunities in processing vast amounts of data. Businesses that master these characteristics can apply data to inform strategic planning while driving innovation and improving customer interactions. Businesses need to allocate resources towards advanced analytics, cloud computing and artificial intelligence to maintain competitive advantage in the rapidly changing data-driven environment.</a:t>
            </a:r>
            <a:endParaRPr lang="en-US" sz="1600" dirty="0">
              <a:latin typeface="Times New Roman"/>
              <a:cs typeface="Times New Roman"/>
            </a:endParaRPr>
          </a:p>
          <a:p>
            <a:endParaRPr lang="en-US" sz="1600" dirty="0"/>
          </a:p>
        </p:txBody>
      </p:sp>
    </p:spTree>
    <p:extLst>
      <p:ext uri="{BB962C8B-B14F-4D97-AF65-F5344CB8AC3E}">
        <p14:creationId xmlns:p14="http://schemas.microsoft.com/office/powerpoint/2010/main" val="719664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Roles of Data Specialists</a:t>
            </a:r>
          </a:p>
        </p:txBody>
      </p:sp>
      <p:sp>
        <p:nvSpPr>
          <p:cNvPr id="3" name="Content Placeholder 2"/>
          <p:cNvSpPr>
            <a:spLocks noGrp="1"/>
          </p:cNvSpPr>
          <p:nvPr>
            <p:ph idx="1"/>
          </p:nvPr>
        </p:nvSpPr>
        <p:spPr/>
        <p:txBody>
          <a:bodyPr/>
          <a:lstStyle/>
          <a:p>
            <a:r>
              <a:rPr dirty="0"/>
              <a:t>Key Data Specialist Roles:</a:t>
            </a:r>
          </a:p>
          <a:p>
            <a:r>
              <a:rPr dirty="0"/>
              <a:t>- Data Engineer: Builds infrastructure, ensures ethical sourcing, scalability</a:t>
            </a:r>
          </a:p>
          <a:p>
            <a:r>
              <a:rPr dirty="0"/>
              <a:t>- Data Scientist: Creates models, reduces algorithmic bias</a:t>
            </a:r>
          </a:p>
          <a:p>
            <a:r>
              <a:rPr dirty="0"/>
              <a:t>- Data Governance Officer: Enforces policy, ensures ethical compliance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2E264-CD77-6CA0-9740-C84EAD1359C1}"/>
              </a:ext>
            </a:extLst>
          </p:cNvPr>
          <p:cNvSpPr>
            <a:spLocks noGrp="1"/>
          </p:cNvSpPr>
          <p:nvPr>
            <p:ph type="title"/>
          </p:nvPr>
        </p:nvSpPr>
        <p:spPr/>
        <p:txBody>
          <a:bodyPr/>
          <a:lstStyle/>
          <a:p>
            <a:r>
              <a:rPr lang="en-GB" dirty="0"/>
              <a:t>Challenges of Data Specialists:</a:t>
            </a:r>
          </a:p>
        </p:txBody>
      </p:sp>
      <p:sp>
        <p:nvSpPr>
          <p:cNvPr id="3" name="Content Placeholder 2">
            <a:extLst>
              <a:ext uri="{FF2B5EF4-FFF2-40B4-BE49-F238E27FC236}">
                <a16:creationId xmlns:a16="http://schemas.microsoft.com/office/drawing/2014/main" id="{E5562D7F-F7DF-4BEB-919D-0B8B5FE15F67}"/>
              </a:ext>
            </a:extLst>
          </p:cNvPr>
          <p:cNvSpPr>
            <a:spLocks noGrp="1"/>
          </p:cNvSpPr>
          <p:nvPr>
            <p:ph idx="1"/>
          </p:nvPr>
        </p:nvSpPr>
        <p:spPr>
          <a:xfrm>
            <a:off x="0" y="1637414"/>
            <a:ext cx="12192000" cy="5220586"/>
          </a:xfrm>
        </p:spPr>
        <p:txBody>
          <a:bodyPr>
            <a:normAutofit fontScale="40000" lnSpcReduction="20000"/>
          </a:bodyPr>
          <a:lstStyle/>
          <a:p>
            <a:pPr>
              <a:buNone/>
            </a:pPr>
            <a:r>
              <a:rPr lang="en-GB" sz="4000" b="1" dirty="0">
                <a:latin typeface="Times New Roman" panose="02020603050405020304" pitchFamily="18" charset="0"/>
                <a:cs typeface="Times New Roman" panose="02020603050405020304" pitchFamily="18" charset="0"/>
              </a:rPr>
              <a:t>1. Data Engineer – </a:t>
            </a:r>
          </a:p>
          <a:p>
            <a:pPr marL="0" indent="0">
              <a:buNone/>
            </a:pPr>
            <a:r>
              <a:rPr lang="en-GB" sz="4000" b="1" dirty="0">
                <a:latin typeface="Times New Roman" panose="02020603050405020304" pitchFamily="18" charset="0"/>
                <a:cs typeface="Times New Roman" panose="02020603050405020304" pitchFamily="18" charset="0"/>
              </a:rPr>
              <a:t>       Managing Data Volume and Velocity: Real-time data streams and big datasets strain pipelines and storage solutions.</a:t>
            </a:r>
          </a:p>
          <a:p>
            <a:pPr marL="0" indent="0">
              <a:buNone/>
            </a:pPr>
            <a:r>
              <a:rPr lang="en-GB" sz="4000" b="1" dirty="0">
                <a:latin typeface="Times New Roman" panose="02020603050405020304" pitchFamily="18" charset="0"/>
                <a:cs typeface="Times New Roman" panose="02020603050405020304" pitchFamily="18" charset="0"/>
              </a:rPr>
              <a:t>       Ensuring Ethical Data Sourcing: Identifying and excluding biased or illegally sourced data is increasingly critical.</a:t>
            </a:r>
          </a:p>
          <a:p>
            <a:pPr marL="0" indent="0">
              <a:buNone/>
            </a:pPr>
            <a:r>
              <a:rPr lang="en-GB" sz="4000" b="1" dirty="0">
                <a:latin typeface="Times New Roman" panose="02020603050405020304" pitchFamily="18" charset="0"/>
                <a:cs typeface="Times New Roman" panose="02020603050405020304" pitchFamily="18" charset="0"/>
              </a:rPr>
              <a:t>       Balancing Scalability with Cost: Designing scalable architectures without overspending on cloud or infrastructure.</a:t>
            </a:r>
          </a:p>
          <a:p>
            <a:pPr marL="0" indent="0">
              <a:buNone/>
            </a:pPr>
            <a:r>
              <a:rPr lang="en-GB" sz="4000" b="1" dirty="0">
                <a:latin typeface="Times New Roman" panose="02020603050405020304" pitchFamily="18" charset="0"/>
                <a:cs typeface="Times New Roman" panose="02020603050405020304" pitchFamily="18" charset="0"/>
              </a:rPr>
              <a:t>       Tool Integration: Managing compatibility across multiple data tools, platforms, and formats.</a:t>
            </a:r>
          </a:p>
          <a:p>
            <a:pPr>
              <a:buNone/>
            </a:pPr>
            <a:r>
              <a:rPr lang="en-GB" sz="4000" b="1" dirty="0">
                <a:latin typeface="Times New Roman" panose="02020603050405020304" pitchFamily="18" charset="0"/>
                <a:cs typeface="Times New Roman" panose="02020603050405020304" pitchFamily="18" charset="0"/>
              </a:rPr>
              <a:t>Data Scientist- </a:t>
            </a:r>
          </a:p>
          <a:p>
            <a:pPr>
              <a:buNone/>
            </a:pPr>
            <a:r>
              <a:rPr lang="en-GB" sz="4000" b="1" dirty="0">
                <a:latin typeface="Times New Roman" panose="02020603050405020304" pitchFamily="18" charset="0"/>
                <a:cs typeface="Times New Roman" panose="02020603050405020304" pitchFamily="18" charset="0"/>
              </a:rPr>
              <a:t>       Reducing Algorithmic Bias: Training models without unintentionally reinforcing societal or historical biases.</a:t>
            </a:r>
          </a:p>
          <a:p>
            <a:pPr>
              <a:buNone/>
            </a:pPr>
            <a:r>
              <a:rPr lang="en-GB" sz="4000" b="1" dirty="0">
                <a:latin typeface="Times New Roman" panose="02020603050405020304" pitchFamily="18" charset="0"/>
                <a:cs typeface="Times New Roman" panose="02020603050405020304" pitchFamily="18" charset="0"/>
              </a:rPr>
              <a:t>       Model Interpretability vs. Accuracy: Balancing complex models' performance with the need for explainability.</a:t>
            </a:r>
          </a:p>
          <a:p>
            <a:pPr>
              <a:buNone/>
            </a:pPr>
            <a:r>
              <a:rPr lang="en-GB" sz="4000" b="1" dirty="0">
                <a:latin typeface="Times New Roman" panose="02020603050405020304" pitchFamily="18" charset="0"/>
                <a:cs typeface="Times New Roman" panose="02020603050405020304" pitchFamily="18" charset="0"/>
              </a:rPr>
              <a:t>	Data Quality Issues: Incomplete, noisy, or biased data can lead to unreliable predictions.</a:t>
            </a:r>
          </a:p>
          <a:p>
            <a:pPr marL="0" indent="0">
              <a:buNone/>
            </a:pPr>
            <a:r>
              <a:rPr lang="en-GB" sz="4000" b="1" dirty="0">
                <a:latin typeface="Times New Roman" panose="02020603050405020304" pitchFamily="18" charset="0"/>
                <a:cs typeface="Times New Roman" panose="02020603050405020304" pitchFamily="18" charset="0"/>
              </a:rPr>
              <a:t>       Rapidly Evolving Tools: Keeping up with the constant innovation in AI/ML frameworks.</a:t>
            </a:r>
          </a:p>
          <a:p>
            <a:pPr>
              <a:buNone/>
            </a:pPr>
            <a:r>
              <a:rPr lang="en-GB" sz="4000" b="1" dirty="0">
                <a:latin typeface="Times New Roman" panose="02020603050405020304" pitchFamily="18" charset="0"/>
                <a:cs typeface="Times New Roman" panose="02020603050405020304" pitchFamily="18" charset="0"/>
              </a:rPr>
              <a:t>3. Data Governance Officer – </a:t>
            </a:r>
          </a:p>
          <a:p>
            <a:pPr marL="0" indent="0">
              <a:buNone/>
            </a:pPr>
            <a:r>
              <a:rPr lang="en-GB" sz="4000" b="1" dirty="0">
                <a:latin typeface="Times New Roman" panose="02020603050405020304" pitchFamily="18" charset="0"/>
                <a:cs typeface="Times New Roman" panose="02020603050405020304" pitchFamily="18" charset="0"/>
              </a:rPr>
              <a:t>     Enforcing Compliance Across Departments: Ensuring consistent policy adherence in a decentralized data environment.</a:t>
            </a:r>
          </a:p>
          <a:p>
            <a:pPr marL="0" indent="0">
              <a:buNone/>
            </a:pPr>
            <a:r>
              <a:rPr lang="en-GB" sz="4000" b="1" dirty="0">
                <a:latin typeface="Times New Roman" panose="02020603050405020304" pitchFamily="18" charset="0"/>
                <a:cs typeface="Times New Roman" panose="02020603050405020304" pitchFamily="18" charset="0"/>
              </a:rPr>
              <a:t>     Keeping Up with Regulations: Adapting quickly to global changes in data privacy laws (e.g., GDPR, CCPA).</a:t>
            </a:r>
          </a:p>
          <a:p>
            <a:pPr marL="0" indent="0">
              <a:buNone/>
            </a:pPr>
            <a:r>
              <a:rPr lang="en-GB" sz="4000" b="1" dirty="0">
                <a:latin typeface="Times New Roman" panose="02020603050405020304" pitchFamily="18" charset="0"/>
                <a:cs typeface="Times New Roman" panose="02020603050405020304" pitchFamily="18" charset="0"/>
              </a:rPr>
              <a:t>     Data Ownership &amp; Stewardship: Defining and assigning accountability for data assets organization-wide.</a:t>
            </a:r>
          </a:p>
          <a:p>
            <a:pPr marL="0" indent="0">
              <a:buNone/>
            </a:pPr>
            <a:r>
              <a:rPr lang="en-GB" sz="4000" b="1" dirty="0">
                <a:latin typeface="Times New Roman" panose="02020603050405020304" pitchFamily="18" charset="0"/>
                <a:cs typeface="Times New Roman" panose="02020603050405020304" pitchFamily="18" charset="0"/>
              </a:rPr>
              <a:t>     Balancing Accessibility with Control: Making data available to analysts without compromising security or ethics.</a:t>
            </a:r>
          </a:p>
          <a:p>
            <a:pPr>
              <a:buFont typeface="Arial" panose="020B0604020202020204" pitchFamily="34" charset="0"/>
              <a:buChar char="•"/>
            </a:pPr>
            <a:endParaRPr lang="en-GB" sz="1100" dirty="0"/>
          </a:p>
          <a:p>
            <a:endParaRPr lang="en-GB" dirty="0"/>
          </a:p>
        </p:txBody>
      </p:sp>
      <p:sp>
        <p:nvSpPr>
          <p:cNvPr id="4" name="Date Placeholder 3">
            <a:extLst>
              <a:ext uri="{FF2B5EF4-FFF2-40B4-BE49-F238E27FC236}">
                <a16:creationId xmlns:a16="http://schemas.microsoft.com/office/drawing/2014/main" id="{F7A8397D-8872-F0FD-BD69-88A3D5DE43A8}"/>
              </a:ext>
            </a:extLst>
          </p:cNvPr>
          <p:cNvSpPr>
            <a:spLocks noGrp="1"/>
          </p:cNvSpPr>
          <p:nvPr>
            <p:ph type="dt" sz="half" idx="10"/>
          </p:nvPr>
        </p:nvSpPr>
        <p:spPr/>
        <p:txBody>
          <a:bodyPr/>
          <a:lstStyle/>
          <a:p>
            <a:fld id="{32AB26FA-EA11-4C03-A96E-74BB6CAD5E2A}" type="datetime1">
              <a:rPr lang="en-US" smtClean="0"/>
              <a:t>5/21/2025</a:t>
            </a:fld>
            <a:endParaRPr lang="en-US" dirty="0"/>
          </a:p>
        </p:txBody>
      </p:sp>
      <p:sp>
        <p:nvSpPr>
          <p:cNvPr id="5" name="Footer Placeholder 4">
            <a:extLst>
              <a:ext uri="{FF2B5EF4-FFF2-40B4-BE49-F238E27FC236}">
                <a16:creationId xmlns:a16="http://schemas.microsoft.com/office/drawing/2014/main" id="{20760B5B-4520-92F9-F4EB-E0418CFF031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A77B71F-42C6-F6D1-3153-1DA7C4CC0936}"/>
              </a:ext>
            </a:extLst>
          </p:cNvPr>
          <p:cNvSpPr>
            <a:spLocks noGrp="1"/>
          </p:cNvSpPr>
          <p:nvPr>
            <p:ph type="sldNum" sz="quarter" idx="12"/>
          </p:nvPr>
        </p:nvSpPr>
        <p:spPr/>
        <p:txBody>
          <a:bodyPr/>
          <a:lstStyle/>
          <a:p>
            <a:fld id="{A65A5C87-DF58-40C8-B092-1DE63DB4547E}" type="slidenum">
              <a:rPr lang="en-US" smtClean="0"/>
              <a:t>13</a:t>
            </a:fld>
            <a:endParaRPr lang="en-US" dirty="0"/>
          </a:p>
        </p:txBody>
      </p:sp>
    </p:spTree>
    <p:extLst>
      <p:ext uri="{BB962C8B-B14F-4D97-AF65-F5344CB8AC3E}">
        <p14:creationId xmlns:p14="http://schemas.microsoft.com/office/powerpoint/2010/main" val="861009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Challenges and Compliance</a:t>
            </a:r>
          </a:p>
        </p:txBody>
      </p:sp>
      <p:sp>
        <p:nvSpPr>
          <p:cNvPr id="3" name="Content Placeholder 2"/>
          <p:cNvSpPr>
            <a:spLocks noGrp="1"/>
          </p:cNvSpPr>
          <p:nvPr>
            <p:ph idx="1"/>
          </p:nvPr>
        </p:nvSpPr>
        <p:spPr/>
        <p:txBody>
          <a:bodyPr>
            <a:normAutofit lnSpcReduction="10000"/>
          </a:bodyPr>
          <a:lstStyle/>
          <a:p>
            <a:r>
              <a:t>Challenges &amp; Compliance Strategies:</a:t>
            </a:r>
          </a:p>
          <a:p>
            <a:r>
              <a:t>- Managing algorithmic bias and dynamic legal frameworks</a:t>
            </a:r>
          </a:p>
          <a:p>
            <a:r>
              <a:t>- Strategies: Ethical audits, Explainable AI, Stakeholder consultation</a:t>
            </a:r>
          </a:p>
          <a:p>
            <a:r>
              <a:t>- Legal examples: GDPR (EU), Data Protection Act (UK)</a:t>
            </a:r>
          </a:p>
          <a:p>
            <a:r>
              <a:t>- Importance: Build user trust, reduce risk, support ethical innovation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Ethics and Responsibility</a:t>
            </a:r>
          </a:p>
        </p:txBody>
      </p:sp>
      <p:sp>
        <p:nvSpPr>
          <p:cNvPr id="3" name="Content Placeholder 2"/>
          <p:cNvSpPr>
            <a:spLocks noGrp="1"/>
          </p:cNvSpPr>
          <p:nvPr>
            <p:ph idx="1"/>
          </p:nvPr>
        </p:nvSpPr>
        <p:spPr/>
        <p:txBody>
          <a:bodyPr>
            <a:normAutofit lnSpcReduction="10000"/>
          </a:bodyPr>
          <a:lstStyle/>
          <a:p>
            <a:r>
              <a:t>Building Ethics into a Data-Driven Culture:</a:t>
            </a:r>
          </a:p>
          <a:p>
            <a:r>
              <a:t>- Ethics in big data: Privacy, fairness, transparency</a:t>
            </a:r>
          </a:p>
          <a:p>
            <a:r>
              <a:t>- Integration strategies: Ethics training, transparent AI, internal reviews</a:t>
            </a:r>
          </a:p>
          <a:p>
            <a:r>
              <a:t>- Data specialists ensure data is used fairly &amp; responsibly</a:t>
            </a:r>
          </a:p>
          <a:p>
            <a:r>
              <a:t>- Challenges: Cross-border data, evolving laws, organisational pressure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sz="half" idx="1"/>
          </p:nvPr>
        </p:nvSpPr>
        <p:spPr/>
        <p:txBody>
          <a:bodyPr vert="horz" lIns="91440" tIns="45720" rIns="91440" bIns="45720" rtlCol="0" anchor="t">
            <a:noAutofit/>
          </a:bodyPr>
          <a:lstStyle/>
          <a:p>
            <a:r>
              <a:rPr lang="en-US" sz="2000" b="0" i="0" dirty="0">
                <a:solidFill>
                  <a:srgbClr val="000000"/>
                </a:solidFill>
                <a:effectLst/>
                <a:latin typeface="__Inter_d65c78"/>
              </a:rPr>
              <a:t>Navigating today's fast-paced world requires more than gut feelings due to its inherent complexity. Organizations and individuals can make more intelligent decisions by using data-driven decision making which replaces assumptions with real evidence. By employing big data we gain transparent understanding whether we manipulate massive datasets or observe </a:t>
            </a:r>
            <a:r>
              <a:rPr lang="en-US" sz="2000" b="0" i="0">
                <a:solidFill>
                  <a:srgbClr val="000000"/>
                </a:solidFill>
                <a:effectLst/>
                <a:latin typeface="__Inter_d65c78"/>
              </a:rPr>
              <a:t>patterns over time. </a:t>
            </a:r>
            <a:endParaRPr lang="en-US" sz="2000">
              <a:latin typeface="__Inter_d65c78"/>
              <a:cs typeface="Times New Roman"/>
            </a:endParaRPr>
          </a:p>
        </p:txBody>
      </p:sp>
      <p:sp>
        <p:nvSpPr>
          <p:cNvPr id="4" name="Content Placeholder 3">
            <a:extLst>
              <a:ext uri="{FF2B5EF4-FFF2-40B4-BE49-F238E27FC236}">
                <a16:creationId xmlns:a16="http://schemas.microsoft.com/office/drawing/2014/main" id="{355801BE-DAED-328E-F8CA-3406DBB5CD4B}"/>
              </a:ext>
            </a:extLst>
          </p:cNvPr>
          <p:cNvSpPr>
            <a:spLocks noGrp="1"/>
          </p:cNvSpPr>
          <p:nvPr>
            <p:ph sz="half" idx="2"/>
          </p:nvPr>
        </p:nvSpPr>
        <p:spPr/>
        <p:txBody>
          <a:bodyPr vert="horz" lIns="91440" tIns="45720" rIns="91440" bIns="45720" rtlCol="0" anchor="t">
            <a:normAutofit/>
          </a:bodyPr>
          <a:lstStyle/>
          <a:p>
            <a:r>
              <a:rPr lang="en-US" sz="2000" dirty="0">
                <a:ea typeface="+mn-lt"/>
                <a:cs typeface="+mn-lt"/>
              </a:rPr>
              <a:t>Through the 5 Vs framework which includes volume, velocity, variety, veracity and value we can turn complex data into dependable insights which drive both action and learning. Data utilization produces high-quality decisions which support team members and individuals while creating a better tomorrow.</a:t>
            </a:r>
            <a:endParaRPr lang="en-US" dirty="0"/>
          </a:p>
        </p:txBody>
      </p:sp>
    </p:spTree>
    <p:extLst>
      <p:ext uri="{BB962C8B-B14F-4D97-AF65-F5344CB8AC3E}">
        <p14:creationId xmlns:p14="http://schemas.microsoft.com/office/powerpoint/2010/main" val="36264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p:txBody>
          <a:bodyPr/>
          <a:lstStyle/>
          <a:p>
            <a:r>
              <a:rPr lang="en-US" dirty="0"/>
              <a:t>Cristian Danci</a:t>
            </a:r>
          </a:p>
          <a:p>
            <a:r>
              <a:rPr lang="en-US" dirty="0"/>
              <a:t>G235006</a:t>
            </a:r>
          </a:p>
          <a:p>
            <a:endParaRPr lang="en-US" dirty="0"/>
          </a:p>
        </p:txBody>
      </p:sp>
    </p:spTree>
    <p:extLst>
      <p:ext uri="{BB962C8B-B14F-4D97-AF65-F5344CB8AC3E}">
        <p14:creationId xmlns:p14="http://schemas.microsoft.com/office/powerpoint/2010/main" val="1609673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AF997-02E0-6DDB-6797-BD6C2D47999D}"/>
              </a:ext>
            </a:extLst>
          </p:cNvPr>
          <p:cNvSpPr>
            <a:spLocks noGrp="1"/>
          </p:cNvSpPr>
          <p:nvPr>
            <p:ph type="ctrTitle"/>
          </p:nvPr>
        </p:nvSpPr>
        <p:spPr>
          <a:xfrm>
            <a:off x="1167494" y="148858"/>
            <a:ext cx="5701139" cy="712380"/>
          </a:xfrm>
        </p:spPr>
        <p:txBody>
          <a:bodyPr>
            <a:normAutofit fontScale="90000"/>
          </a:bodyPr>
          <a:lstStyle/>
          <a:p>
            <a:r>
              <a:rPr lang="en-US" dirty="0"/>
              <a:t>References</a:t>
            </a:r>
            <a:endParaRPr lang="en-GB" dirty="0"/>
          </a:p>
        </p:txBody>
      </p:sp>
      <p:sp>
        <p:nvSpPr>
          <p:cNvPr id="4" name="Rectangle 1">
            <a:extLst>
              <a:ext uri="{FF2B5EF4-FFF2-40B4-BE49-F238E27FC236}">
                <a16:creationId xmlns:a16="http://schemas.microsoft.com/office/drawing/2014/main" id="{1EEBE185-B240-A74C-9F61-5EAE36F49C1C}"/>
              </a:ext>
            </a:extLst>
          </p:cNvPr>
          <p:cNvSpPr>
            <a:spLocks noGrp="1" noChangeArrowheads="1"/>
          </p:cNvSpPr>
          <p:nvPr>
            <p:ph type="subTitle" idx="1"/>
          </p:nvPr>
        </p:nvSpPr>
        <p:spPr bwMode="auto">
          <a:xfrm>
            <a:off x="-1" y="1385227"/>
            <a:ext cx="12099851"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Dana </a:t>
            </a:r>
            <a:r>
              <a:rPr kumimoji="0" lang="en-US" altLang="en-US" sz="1100" b="1" i="0" u="none" strike="noStrike" cap="none" normalizeH="0" baseline="0" dirty="0" err="1">
                <a:ln>
                  <a:noFill/>
                </a:ln>
                <a:solidFill>
                  <a:schemeClr val="tx1"/>
                </a:solidFill>
                <a:effectLst/>
                <a:latin typeface="Arial" panose="020B0604020202020204" pitchFamily="34" charset="0"/>
              </a:rPr>
              <a:t>Lagzi</a:t>
            </a:r>
            <a:r>
              <a:rPr kumimoji="0" lang="en-US" altLang="en-US" sz="1100" b="1" i="0" u="none" strike="noStrike" cap="none" normalizeH="0" baseline="0" dirty="0">
                <a:ln>
                  <a:noFill/>
                </a:ln>
                <a:solidFill>
                  <a:schemeClr val="tx1"/>
                </a:solidFill>
                <a:effectLst/>
                <a:latin typeface="Arial" panose="020B0604020202020204" pitchFamily="34" charset="0"/>
              </a:rPr>
              <a:t>,, M., Farkhondeh, F., </a:t>
            </a:r>
            <a:r>
              <a:rPr kumimoji="0" lang="en-US" altLang="en-US" sz="1100" b="1" i="0" u="none" strike="noStrike" cap="none" normalizeH="0" baseline="0" dirty="0" err="1">
                <a:ln>
                  <a:noFill/>
                </a:ln>
                <a:solidFill>
                  <a:schemeClr val="tx1"/>
                </a:solidFill>
                <a:effectLst/>
                <a:latin typeface="Arial" panose="020B0604020202020204" pitchFamily="34" charset="0"/>
              </a:rPr>
              <a:t>Amoozad</a:t>
            </a:r>
            <a:r>
              <a:rPr kumimoji="0" lang="en-US" altLang="en-US" sz="1100" b="1" i="0" u="none" strike="noStrike" cap="none" normalizeH="0" baseline="0" dirty="0">
                <a:ln>
                  <a:noFill/>
                </a:ln>
                <a:solidFill>
                  <a:schemeClr val="tx1"/>
                </a:solidFill>
                <a:effectLst/>
                <a:latin typeface="Arial" panose="020B0604020202020204" pitchFamily="34" charset="0"/>
              </a:rPr>
              <a:t> </a:t>
            </a:r>
            <a:r>
              <a:rPr kumimoji="0" lang="en-US" altLang="en-US" sz="1100" b="1" i="0" u="none" strike="noStrike" cap="none" normalizeH="0" baseline="0" dirty="0" err="1">
                <a:ln>
                  <a:noFill/>
                </a:ln>
                <a:solidFill>
                  <a:schemeClr val="tx1"/>
                </a:solidFill>
                <a:effectLst/>
                <a:latin typeface="Arial" panose="020B0604020202020204" pitchFamily="34" charset="0"/>
              </a:rPr>
              <a:t>Mahdiraji</a:t>
            </a:r>
            <a:r>
              <a:rPr kumimoji="0" lang="en-US" altLang="en-US" sz="1100" b="1" i="0" u="none" strike="noStrike" cap="none" normalizeH="0" baseline="0" dirty="0">
                <a:ln>
                  <a:noFill/>
                </a:ln>
                <a:solidFill>
                  <a:schemeClr val="tx1"/>
                </a:solidFill>
                <a:effectLst/>
                <a:latin typeface="Arial" panose="020B0604020202020204" pitchFamily="34" charset="0"/>
              </a:rPr>
              <a:t>, . H. &amp; Sakka, G., 2025. Research output. [Online]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Available at: https://research.birmingham.ac.uk/en/publications/exploring-data-driven-decision-making-practices-a-comprehensive-r#:~:text=Findings%3A%20The%20review%20identifies%20machine%20learning%2C%20statistical%20models,simulation%20emerge%20as%20promising%20avenu</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Laney, D.</a:t>
            </a:r>
            <a:r>
              <a:rPr kumimoji="0" lang="en-US" altLang="en-US" sz="1100" b="0" i="0" u="none" strike="noStrike" cap="none" normalizeH="0" baseline="0" dirty="0">
                <a:ln>
                  <a:noFill/>
                </a:ln>
                <a:solidFill>
                  <a:schemeClr val="tx1"/>
                </a:solidFill>
                <a:effectLst/>
                <a:latin typeface="Arial" panose="020B0604020202020204" pitchFamily="34" charset="0"/>
              </a:rPr>
              <a:t> (2001). </a:t>
            </a:r>
            <a:r>
              <a:rPr kumimoji="0" lang="en-US" altLang="en-US" sz="1100" b="0" i="1" u="none" strike="noStrike" cap="none" normalizeH="0" baseline="0" dirty="0">
                <a:ln>
                  <a:noFill/>
                </a:ln>
                <a:solidFill>
                  <a:schemeClr val="tx1"/>
                </a:solidFill>
                <a:effectLst/>
                <a:latin typeface="Arial" panose="020B0604020202020204" pitchFamily="34" charset="0"/>
              </a:rPr>
              <a:t>3D Data Management: Controlling Data Volume, Velocity, and Variety.</a:t>
            </a:r>
            <a:r>
              <a:rPr kumimoji="0" lang="en-US" altLang="en-US" sz="1100" b="0" i="0" u="none" strike="noStrike" cap="none" normalizeH="0" baseline="0" dirty="0">
                <a:ln>
                  <a:noFill/>
                </a:ln>
                <a:solidFill>
                  <a:schemeClr val="tx1"/>
                </a:solidFill>
                <a:effectLst/>
                <a:latin typeface="Arial" panose="020B0604020202020204" pitchFamily="34" charset="0"/>
              </a:rPr>
              <a:t> META Group.</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Introduced the original “3 Vs” concept, foundational to understanding big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chemeClr val="tx1"/>
                </a:solidFill>
                <a:effectLst/>
                <a:latin typeface="Arial" panose="020B0604020202020204" pitchFamily="34" charset="0"/>
              </a:rPr>
              <a:t>Gandomi</a:t>
            </a:r>
            <a:r>
              <a:rPr kumimoji="0" lang="en-US" altLang="en-US" sz="1100" b="1" i="0" u="none" strike="noStrike" cap="none" normalizeH="0" baseline="0" dirty="0">
                <a:ln>
                  <a:noFill/>
                </a:ln>
                <a:solidFill>
                  <a:schemeClr val="tx1"/>
                </a:solidFill>
                <a:effectLst/>
                <a:latin typeface="Arial" panose="020B0604020202020204" pitchFamily="34" charset="0"/>
              </a:rPr>
              <a:t>, A., &amp; Haider, M.</a:t>
            </a:r>
            <a:r>
              <a:rPr kumimoji="0" lang="en-US" altLang="en-US" sz="1100" b="0" i="0" u="none" strike="noStrike" cap="none" normalizeH="0" baseline="0" dirty="0">
                <a:ln>
                  <a:noFill/>
                </a:ln>
                <a:solidFill>
                  <a:schemeClr val="tx1"/>
                </a:solidFill>
                <a:effectLst/>
                <a:latin typeface="Arial" panose="020B0604020202020204" pitchFamily="34" charset="0"/>
              </a:rPr>
              <a:t> (2015). </a:t>
            </a:r>
            <a:r>
              <a:rPr kumimoji="0" lang="en-US" altLang="en-US" sz="1100" b="0" i="1" u="none" strike="noStrike" cap="none" normalizeH="0" baseline="0" dirty="0">
                <a:ln>
                  <a:noFill/>
                </a:ln>
                <a:solidFill>
                  <a:schemeClr val="tx1"/>
                </a:solidFill>
                <a:effectLst/>
                <a:latin typeface="Arial" panose="020B0604020202020204" pitchFamily="34" charset="0"/>
              </a:rPr>
              <a:t>Beyond the Hype: Big Data Concepts, Methods, and Analytics.</a:t>
            </a:r>
            <a:r>
              <a:rPr kumimoji="0" lang="en-US" altLang="en-US" sz="1100" b="0" i="0" u="none" strike="noStrike" cap="none" normalizeH="0" baseline="0" dirty="0">
                <a:ln>
                  <a:noFill/>
                </a:ln>
                <a:solidFill>
                  <a:schemeClr val="tx1"/>
                </a:solidFill>
                <a:effectLst/>
                <a:latin typeface="Arial" panose="020B0604020202020204" pitchFamily="34" charset="0"/>
              </a:rPr>
              <a:t> International Journal of Information Management, 35(2), 137–144.</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A deep dive into the challenges and tools of big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McAfee, A., &amp; Brynjolfsson, E.</a:t>
            </a:r>
            <a:r>
              <a:rPr kumimoji="0" lang="en-US" altLang="en-US" sz="1100" b="0" i="0" u="none" strike="noStrike" cap="none" normalizeH="0" baseline="0" dirty="0">
                <a:ln>
                  <a:noFill/>
                </a:ln>
                <a:solidFill>
                  <a:schemeClr val="tx1"/>
                </a:solidFill>
                <a:effectLst/>
                <a:latin typeface="Arial" panose="020B0604020202020204" pitchFamily="34" charset="0"/>
              </a:rPr>
              <a:t> (2012). </a:t>
            </a:r>
            <a:r>
              <a:rPr kumimoji="0" lang="en-US" altLang="en-US" sz="1100" b="0" i="1" u="none" strike="noStrike" cap="none" normalizeH="0" baseline="0" dirty="0">
                <a:ln>
                  <a:noFill/>
                </a:ln>
                <a:solidFill>
                  <a:schemeClr val="tx1"/>
                </a:solidFill>
                <a:effectLst/>
                <a:latin typeface="Arial" panose="020B0604020202020204" pitchFamily="34" charset="0"/>
              </a:rPr>
              <a:t>Big Data: The Management Revolution.</a:t>
            </a:r>
            <a:r>
              <a:rPr kumimoji="0" lang="en-US" altLang="en-US" sz="1100" b="0" i="0" u="none" strike="noStrike" cap="none" normalizeH="0" baseline="0" dirty="0">
                <a:ln>
                  <a:noFill/>
                </a:ln>
                <a:solidFill>
                  <a:schemeClr val="tx1"/>
                </a:solidFill>
                <a:effectLst/>
                <a:latin typeface="Arial" panose="020B0604020202020204" pitchFamily="34" charset="0"/>
              </a:rPr>
              <a:t> Harvard Business Review.</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Discusses how data transforms how businesses make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Chen, H., Chiang, R. H. L., &amp; </a:t>
            </a:r>
            <a:r>
              <a:rPr kumimoji="0" lang="en-US" altLang="en-US" sz="1100" b="1" i="0" u="none" strike="noStrike" cap="none" normalizeH="0" baseline="0" dirty="0" err="1">
                <a:ln>
                  <a:noFill/>
                </a:ln>
                <a:solidFill>
                  <a:schemeClr val="tx1"/>
                </a:solidFill>
                <a:effectLst/>
                <a:latin typeface="Arial" panose="020B0604020202020204" pitchFamily="34" charset="0"/>
              </a:rPr>
              <a:t>Storey</a:t>
            </a:r>
            <a:r>
              <a:rPr kumimoji="0" lang="en-US" altLang="en-US" sz="1100" b="1" i="0" u="none" strike="noStrike" cap="none" normalizeH="0" baseline="0" dirty="0">
                <a:ln>
                  <a:noFill/>
                </a:ln>
                <a:solidFill>
                  <a:schemeClr val="tx1"/>
                </a:solidFill>
                <a:effectLst/>
                <a:latin typeface="Arial" panose="020B0604020202020204" pitchFamily="34" charset="0"/>
              </a:rPr>
              <a:t>, V. C.</a:t>
            </a:r>
            <a:r>
              <a:rPr kumimoji="0" lang="en-US" altLang="en-US" sz="1100" b="0" i="0" u="none" strike="noStrike" cap="none" normalizeH="0" baseline="0" dirty="0">
                <a:ln>
                  <a:noFill/>
                </a:ln>
                <a:solidFill>
                  <a:schemeClr val="tx1"/>
                </a:solidFill>
                <a:effectLst/>
                <a:latin typeface="Arial" panose="020B0604020202020204" pitchFamily="34" charset="0"/>
              </a:rPr>
              <a:t> (2012). </a:t>
            </a:r>
            <a:r>
              <a:rPr kumimoji="0" lang="en-US" altLang="en-US" sz="1100" b="0" i="1" u="none" strike="noStrike" cap="none" normalizeH="0" baseline="0" dirty="0">
                <a:ln>
                  <a:noFill/>
                </a:ln>
                <a:solidFill>
                  <a:schemeClr val="tx1"/>
                </a:solidFill>
                <a:effectLst/>
                <a:latin typeface="Arial" panose="020B0604020202020204" pitchFamily="34" charset="0"/>
              </a:rPr>
              <a:t>Business Intelligence and Analytics: From Big Data to Big Impact.</a:t>
            </a:r>
            <a:r>
              <a:rPr kumimoji="0" lang="en-US" altLang="en-US" sz="1100" b="0" i="0" u="none" strike="noStrike" cap="none" normalizeH="0" baseline="0" dirty="0">
                <a:ln>
                  <a:noFill/>
                </a:ln>
                <a:solidFill>
                  <a:schemeClr val="tx1"/>
                </a:solidFill>
                <a:effectLst/>
                <a:latin typeface="Arial" panose="020B0604020202020204" pitchFamily="34" charset="0"/>
              </a:rPr>
              <a:t> MIS Quarterly, 36(4), 1165–1188.</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Explores the impact of data analytics on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Davenport, T. H., &amp; Harris, J. G.</a:t>
            </a:r>
            <a:r>
              <a:rPr kumimoji="0" lang="en-US" altLang="en-US" sz="1100" b="0" i="0" u="none" strike="noStrike" cap="none" normalizeH="0" baseline="0" dirty="0">
                <a:ln>
                  <a:noFill/>
                </a:ln>
                <a:solidFill>
                  <a:schemeClr val="tx1"/>
                </a:solidFill>
                <a:effectLst/>
                <a:latin typeface="Arial" panose="020B0604020202020204" pitchFamily="34" charset="0"/>
              </a:rPr>
              <a:t> (2007). </a:t>
            </a:r>
            <a:r>
              <a:rPr kumimoji="0" lang="en-US" altLang="en-US" sz="1100" b="0" i="1" u="none" strike="noStrike" cap="none" normalizeH="0" baseline="0" dirty="0">
                <a:ln>
                  <a:noFill/>
                </a:ln>
                <a:solidFill>
                  <a:schemeClr val="tx1"/>
                </a:solidFill>
                <a:effectLst/>
                <a:latin typeface="Arial" panose="020B0604020202020204" pitchFamily="34" charset="0"/>
              </a:rPr>
              <a:t>Competing on Analytics: The New Science of Winning.</a:t>
            </a:r>
            <a:r>
              <a:rPr kumimoji="0" lang="en-US" altLang="en-US" sz="1100" b="0" i="0" u="none" strike="noStrike" cap="none" normalizeH="0" baseline="0" dirty="0">
                <a:ln>
                  <a:noFill/>
                </a:ln>
                <a:solidFill>
                  <a:schemeClr val="tx1"/>
                </a:solidFill>
                <a:effectLst/>
                <a:latin typeface="Arial" panose="020B0604020202020204" pitchFamily="34" charset="0"/>
              </a:rPr>
              <a:t> Harvard Business Review Press.</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A classic on how organizations gain advantage through analytics.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Mayer-</a:t>
            </a:r>
            <a:r>
              <a:rPr kumimoji="0" lang="en-US" altLang="en-US" sz="1100" b="1" i="0" u="none" strike="noStrike" cap="none" normalizeH="0" baseline="0" dirty="0" err="1">
                <a:ln>
                  <a:noFill/>
                </a:ln>
                <a:solidFill>
                  <a:schemeClr val="tx1"/>
                </a:solidFill>
                <a:effectLst/>
                <a:latin typeface="Arial" panose="020B0604020202020204" pitchFamily="34" charset="0"/>
              </a:rPr>
              <a:t>Schönberger</a:t>
            </a:r>
            <a:r>
              <a:rPr kumimoji="0" lang="en-US" altLang="en-US" sz="1100" b="1" i="0" u="none" strike="noStrike" cap="none" normalizeH="0" baseline="0" dirty="0">
                <a:ln>
                  <a:noFill/>
                </a:ln>
                <a:solidFill>
                  <a:schemeClr val="tx1"/>
                </a:solidFill>
                <a:effectLst/>
                <a:latin typeface="Arial" panose="020B0604020202020204" pitchFamily="34" charset="0"/>
              </a:rPr>
              <a:t>, V., &amp; Cukier, K.</a:t>
            </a:r>
            <a:r>
              <a:rPr kumimoji="0" lang="en-US" altLang="en-US" sz="1100" b="0" i="0" u="none" strike="noStrike" cap="none" normalizeH="0" baseline="0" dirty="0">
                <a:ln>
                  <a:noFill/>
                </a:ln>
                <a:solidFill>
                  <a:schemeClr val="tx1"/>
                </a:solidFill>
                <a:effectLst/>
                <a:latin typeface="Arial" panose="020B0604020202020204" pitchFamily="34" charset="0"/>
              </a:rPr>
              <a:t> (2013). </a:t>
            </a:r>
            <a:r>
              <a:rPr kumimoji="0" lang="en-US" altLang="en-US" sz="1100" b="0" i="1" u="none" strike="noStrike" cap="none" normalizeH="0" baseline="0" dirty="0">
                <a:ln>
                  <a:noFill/>
                </a:ln>
                <a:solidFill>
                  <a:schemeClr val="tx1"/>
                </a:solidFill>
                <a:effectLst/>
                <a:latin typeface="Arial" panose="020B0604020202020204" pitchFamily="34" charset="0"/>
              </a:rPr>
              <a:t>Big Data: A Revolution That Will Transform How We Live, Work, and Think.</a:t>
            </a:r>
            <a:r>
              <a:rPr kumimoji="0" lang="en-US" altLang="en-US" sz="1100" b="0" i="0" u="none" strike="noStrike" cap="none" normalizeH="0" baseline="0" dirty="0">
                <a:ln>
                  <a:noFill/>
                </a:ln>
                <a:solidFill>
                  <a:schemeClr val="tx1"/>
                </a:solidFill>
                <a:effectLst/>
                <a:latin typeface="Arial" panose="020B0604020202020204" pitchFamily="34" charset="0"/>
              </a:rPr>
              <a:t> Houghton Mifflin Harcourt.</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Examines how big data reshapes society and business.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Arial" panose="020B0604020202020204" pitchFamily="34" charset="0"/>
              </a:rPr>
              <a:t>Provost, F., &amp; Fawcett, T.</a:t>
            </a:r>
            <a:r>
              <a:rPr kumimoji="0" lang="en-US" altLang="en-US" sz="1100" b="0" i="0" u="none" strike="noStrike" cap="none" normalizeH="0" baseline="0" dirty="0">
                <a:ln>
                  <a:noFill/>
                </a:ln>
                <a:solidFill>
                  <a:schemeClr val="tx1"/>
                </a:solidFill>
                <a:effectLst/>
                <a:latin typeface="Arial" panose="020B0604020202020204" pitchFamily="34" charset="0"/>
              </a:rPr>
              <a:t> (2013). </a:t>
            </a:r>
            <a:r>
              <a:rPr kumimoji="0" lang="en-US" altLang="en-US" sz="1100" b="0" i="1" u="none" strike="noStrike" cap="none" normalizeH="0" baseline="0" dirty="0">
                <a:ln>
                  <a:noFill/>
                </a:ln>
                <a:solidFill>
                  <a:schemeClr val="tx1"/>
                </a:solidFill>
                <a:effectLst/>
                <a:latin typeface="Arial" panose="020B0604020202020204" pitchFamily="34" charset="0"/>
              </a:rPr>
              <a:t>Data Science for Business.</a:t>
            </a:r>
            <a:r>
              <a:rPr kumimoji="0" lang="en-US" altLang="en-US" sz="1100" b="0" i="0" u="none" strike="noStrike" cap="none" normalizeH="0" baseline="0" dirty="0">
                <a:ln>
                  <a:noFill/>
                </a:ln>
                <a:solidFill>
                  <a:schemeClr val="tx1"/>
                </a:solidFill>
                <a:effectLst/>
                <a:latin typeface="Arial" panose="020B0604020202020204" pitchFamily="34" charset="0"/>
              </a:rPr>
              <a:t> O’Reilly Media.</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A practical guide for understanding how data science fits into business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chemeClr val="tx1"/>
                </a:solidFill>
                <a:effectLst/>
                <a:latin typeface="Arial" panose="020B0604020202020204" pitchFamily="34" charset="0"/>
              </a:rPr>
              <a:t>Schmarzo</a:t>
            </a:r>
            <a:r>
              <a:rPr kumimoji="0" lang="en-US" altLang="en-US" sz="1100" b="1" i="0" u="none" strike="noStrike" cap="none" normalizeH="0" baseline="0" dirty="0">
                <a:ln>
                  <a:noFill/>
                </a:ln>
                <a:solidFill>
                  <a:schemeClr val="tx1"/>
                </a:solidFill>
                <a:effectLst/>
                <a:latin typeface="Arial" panose="020B0604020202020204" pitchFamily="34" charset="0"/>
              </a:rPr>
              <a:t>, B.</a:t>
            </a:r>
            <a:r>
              <a:rPr kumimoji="0" lang="en-US" altLang="en-US" sz="1100" b="0" i="0" u="none" strike="noStrike" cap="none" normalizeH="0" baseline="0" dirty="0">
                <a:ln>
                  <a:noFill/>
                </a:ln>
                <a:solidFill>
                  <a:schemeClr val="tx1"/>
                </a:solidFill>
                <a:effectLst/>
                <a:latin typeface="Arial" panose="020B0604020202020204" pitchFamily="34" charset="0"/>
              </a:rPr>
              <a:t> (2013). </a:t>
            </a:r>
            <a:r>
              <a:rPr kumimoji="0" lang="en-US" altLang="en-US" sz="1100" b="0" i="1" u="none" strike="noStrike" cap="none" normalizeH="0" baseline="0" dirty="0">
                <a:ln>
                  <a:noFill/>
                </a:ln>
                <a:solidFill>
                  <a:schemeClr val="tx1"/>
                </a:solidFill>
                <a:effectLst/>
                <a:latin typeface="Arial" panose="020B0604020202020204" pitchFamily="34" charset="0"/>
              </a:rPr>
              <a:t>Big Data: Understanding How Data Powers Big Business.</a:t>
            </a:r>
            <a:r>
              <a:rPr kumimoji="0" lang="en-US" altLang="en-US" sz="1100" b="0" i="0" u="none" strike="noStrike" cap="none" normalizeH="0" baseline="0" dirty="0">
                <a:ln>
                  <a:noFill/>
                </a:ln>
                <a:solidFill>
                  <a:schemeClr val="tx1"/>
                </a:solidFill>
                <a:effectLst/>
                <a:latin typeface="Arial" panose="020B0604020202020204" pitchFamily="34" charset="0"/>
              </a:rPr>
              <a:t> Wiley.</a:t>
            </a:r>
            <a:br>
              <a:rPr kumimoji="0" lang="en-US" altLang="en-US" sz="11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chemeClr val="tx1"/>
                </a:solidFill>
                <a:effectLst/>
                <a:latin typeface="Arial" panose="020B0604020202020204" pitchFamily="34" charset="0"/>
              </a:rPr>
              <a:t>– Focuses on monetizing big data and turning insights into value.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825957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3.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e8549c2e-0d2e-4560-9591-3186755fc587}" enabled="0" method="" siteId="{e8549c2e-0d2e-4560-9591-3186755fc587}" removed="1"/>
</clbl:labelList>
</file>

<file path=docProps/app.xml><?xml version="1.0" encoding="utf-8"?>
<Properties xmlns="http://schemas.openxmlformats.org/officeDocument/2006/extended-properties" xmlns:vt="http://schemas.openxmlformats.org/officeDocument/2006/docPropsVTypes">
  <Template/>
  <TotalTime>497</TotalTime>
  <Words>3864</Words>
  <Application>Microsoft Office PowerPoint</Application>
  <PresentationFormat>Widescreen</PresentationFormat>
  <Paragraphs>222</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AccentBoxVTI</vt:lpstr>
      <vt:lpstr>Big Data and Decision Making</vt:lpstr>
      <vt:lpstr>My Role at DataSphere Analytics</vt:lpstr>
      <vt:lpstr>Introduction </vt:lpstr>
      <vt:lpstr> The Big 6 V’s of Big Data explain why big data possesses both immense power and complexity.   Volume represents the enormous quantities of data produced every second including social media updates and sensor readings.   Velocity represents how fast we create, gather and process data streams which frequently operate in real-time environments.   Variety represents the multiple forms of data including structured data such as spreadsheets as well as semi-structured data like XML files and unstructured data such as videos and emails.   Veracity examines data trustworthiness and quality because poor data quality leads to poor decision-making.   Value reflects how actionable information derived from data supports users and organizations.   Variability describes data flow inconsistencies which result from unpredictable spikes in data loads that complicate management efforts. The combination of these six V’s reveals both potential benefits and difficulties associated with big data projects.  </vt:lpstr>
      <vt:lpstr>PowerPoint Presentation</vt:lpstr>
      <vt:lpstr>The Importance of Data for Decision Making</vt:lpstr>
      <vt:lpstr> Personalized User Experience: E-commerce and streaming platforms customize recommendation systems for their users. Informed Consumer Choices: The combination of reviews with price comparisons and analytics enables buyers to make better purchasing decisions. Improved Convenience: AI-powered assistants and automation optimize daily activities.  Privacy Concerns: Users need to understand what happens to their personal data during collection, storage, and utilization processes.</vt:lpstr>
      <vt:lpstr>PowerPoint Presentation</vt:lpstr>
      <vt:lpstr>Challenges of Data-Driven Decision-Making for Organizations  Data Overload: Analysis becomes complex and time-consuming when there is too much data. Data Privacy and Compliance: Compliance with regulations like GDPR is essential for organizations. Integration Issues: Organizations need to ensure their systems work together flawlessly to merge data from several different sources. High Implementation Costs: Advanced analytics tools and AI models demand substantial financial resources. Human Resistance: Workers show resistance towards data-based decision-making because they worry their positions will be automated. </vt:lpstr>
      <vt:lpstr>Google and Walmart both leverage data to drive their decision-making processes.</vt:lpstr>
      <vt:lpstr>PowerPoint Presentation</vt:lpstr>
      <vt:lpstr>Roles of Data Specialists</vt:lpstr>
      <vt:lpstr>Challenges of Data Specialists:</vt:lpstr>
      <vt:lpstr>Challenges and Compliance</vt:lpstr>
      <vt:lpstr>Ethics and Responsibility</vt:lpstr>
      <vt:lpstr>Conclusion</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Danci</dc:creator>
  <cp:lastModifiedBy>Cristian Danci</cp:lastModifiedBy>
  <cp:revision>98</cp:revision>
  <dcterms:created xsi:type="dcterms:W3CDTF">2023-12-12T16:04:07Z</dcterms:created>
  <dcterms:modified xsi:type="dcterms:W3CDTF">2025-05-21T17:10:28Z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